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 id="2147483666" r:id="rId5"/>
  </p:sldMasterIdLst>
  <p:notesMasterIdLst>
    <p:notesMasterId r:id="rId6"/>
  </p:notesMasterIdLst>
  <p:sldIdLst>
    <p:sldId id="256" r:id="rId7"/>
    <p:sldId id="257" r:id="rId13"/>
    <p:sldId id="258" r:id="rId14"/>
    <p:sldId id="259" r:id="rId12"/>
    <p:sldId id="260" r:id="rId11"/>
    <p:sldId id="261" r:id="rId10"/>
    <p:sldId id="262" r:id="rId9"/>
    <p:sldId id="263" r:id="rId8"/>
    <p:sldId id="264" r:id="rId20"/>
    <p:sldId id="265" r:id="rId21"/>
    <p:sldId id="266" r:id="rId22"/>
    <p:sldId id="267" r:id="rId23"/>
    <p:sldId id="268" r:id="rId24"/>
    <p:sldId id="269" r:id="rId25"/>
  </p:sldIdLst>
  <p:sldSz cy="5143500" cx="9144000"/>
  <p:notesSz cx="6858000" cy="9144000"/>
  <p:embeddedFontLst>
    <p:embeddedFont>
      <p:font typeface="Marcellus"/>
      <p:regular r:id="rId15"/>
    </p:embeddedFont>
    <p:embeddedFont>
      <p:font typeface="Fira Sa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8.xml"/><Relationship Id="rId9" Type="http://schemas.openxmlformats.org/officeDocument/2006/relationships/slide" Target="slides/slide7.xml"/><Relationship Id="rId10" Type="http://schemas.openxmlformats.org/officeDocument/2006/relationships/slide" Target="slides/slide6.xml"/><Relationship Id="rId11" Type="http://schemas.openxmlformats.org/officeDocument/2006/relationships/slide" Target="slides/slide5.xml"/><Relationship Id="rId12" Type="http://schemas.openxmlformats.org/officeDocument/2006/relationships/slide" Target="slides/slide4.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font" Target="fonts/Marcellus-regular.fntdata"/><Relationship Id="rId16" Type="http://schemas.openxmlformats.org/officeDocument/2006/relationships/font" Target="fonts/FiraSans-regular.fntdata"/><Relationship Id="rId17" Type="http://schemas.openxmlformats.org/officeDocument/2006/relationships/font" Target="fonts/FiraSans-bold.fntdata"/><Relationship Id="rId18" Type="http://schemas.openxmlformats.org/officeDocument/2006/relationships/font" Target="fonts/FiraSans-italic.fntdata"/><Relationship Id="rId19" Type="http://schemas.openxmlformats.org/officeDocument/2006/relationships/font" Target="fonts/FiraSans-boldItalic.fntdata"/><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22b05e420b4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22b05e420b4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Introduce the project in one sentence: a resource manager that keeps a cheap base of EC2 sized by a forecast and sends the rest to Lambda. Mention it is a university cloud-computing project, built and measured on AWS in Mumbai, using a real production trace from Azure.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ways to buy compute: reserved containers or VMs are cheap per unit but need lead time; Lambda is instant and pay per use but costs several times more per unit of work. Traffic varies, so sizing for peak wastes money and reacting late drops or delays requests. The task: predict workload and allocate resources. Rubric items: inputs and features, algorithm and horizon, allocation mechanism, evaluation on accuracy, utilisation, latency, cost and energy, and what happens when the prediction is wrong.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Reactive autoscaling sizes capacity from load it saw five minutes ago at a target utilisation u. In the simulation, every u we tried leaves load unserved because there is no fallback: u 0.7 costs $37.5k and drops 9.2 percent; u 0.3 costs $87.5k and still drops 6.8 percent. The hybrid in the bottom-left corner of the chart serves everything for $32.2k. The seasonal line is an emulation of predictive-scaling style capacity from the same hour on previous days, not the AWS algorithm.</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a base of always-on EC2 capacity. Everything above the base goes to Lambda. The base is the quantile of forecast load whose level is q-star equals one minus f over L, where f is the container cost and L the Lambda cost of the same unit of load for a minute. If L is not above f the base is zero. We checked the rule against brute-force search per function and hour: the difference is -0.0013 percent. Forecasting sets the slow thing, instance count; a per-minute loop sets ALB weights.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Azure Functions 2019 trace, CC-BY, from Shahrad et al., USENIX ATC 2020. Fourteen days of per-minute invocations, with durations and memory. Most functions are rarely invoked, the median function on day one gets 32 invocations, so we filter. We keep functions present on all 14 days with at least 5 requests per minute: 2,127, of which 2,066 also have duration and memory. A function is heavy if its cheaper single-platform option costs at least 50 dollars per month on training days. Load is concurrency: invocations per minute over 60 times average duration. Azure traffic is priced with AWS prices. Split is chronological per function: days 1-10 train, 11-12 validation, 13-14 test.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global LightGBM model per quantile, objective quantile, trained across all heavy functions with load normalised per function. Horizon: next hour, decided at the start of the hour. Features come only from before the decision time: last hour and last six hours mean, max and 90th percentile; same hour yesterday; hour of day; trigger; and the function's level. The safety margin was chosen on validation by minimising decision cost, and came out as 1.0, so none. Baselines: persistence, rolling six-hour quantile, seasonal naive and static training quantile. Accuracy: LightGBM is best at the upper quantiles and tracks coverage; persistence is better at the median. The decision-cost result is on the next slide.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local controller does two jobs. Every decision interval it takes the forecast quantile at q-star and sets the ASG desired capacity. Every minute it reads the observed request rate and sets the ALB weights: the EC2 share is the minimum of one and healthy capacity over observed rate, in integer weights from 0 to 999. The ALB splits by percentage, not overflow-only, so the live system leaks relative to the simulator; we measure that. Everything is tagged project equals costscale, default VPC, no NAT gateway, no RDS, and one make down destroys it and verifies with the tagging API.</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 days 13 and 14 scaled to 30 days, EC2 base, container capacity measured on AWS. Hybrid rolling costs $32.2k, 41 percent below all-Lambda and 14 percent below reactive at u 0.7, which also drops 9.2 percent of load. Plainly: the ML forecaster is only 0.25 percent cheaper than the rolling six-hour quantile on test, and the whole headroom to the oracle is 5.4 percent. Energy, by an estimate based on the Cloud Carbon Footprint method, is lowest for all-Lambda: the hybrid saves money, not energy. Under the earlier assumed capacity of 16 the saving was larger; measured capacity is 6.4.</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arms on the same trace window, scaled to 28 requests per second and time-compressed, run from a laptop in Mumbai against the load balancer in ap-south-1. Arm A is ASG target tracking with everything on EC2; B and C use the controller with the static and ML forecasts; D is C with a 4x spike in the fourth hour. The table shows errors, share served by Lambda, p95 latency and cost computed from instance time and CloudWatch Lambda metrics. Be straightforward about what it shows. On this smooth ramp, reactive scaling (A) and the ML hybrid (C) cost the same, so we did not reproduce the simulated advantage over reactive scaling; the clear live win is against a static base, which cost more than twice as much because it idles. The spike arm D had no failed requests but about 20 percent of requests were slow, because the weights fed EC2 its full capacity and the weights take about 12 seconds to apply. Each arm ran once, so this supports the design and is not a statistical ranking. The replay agrees with arms A to C within about 2 percent in cost; for D it differs a lot because the closed-loop load generator slowed down under overload.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Under-prediction is cheap by design: the excess goes to Lambda, nothing is dropped. Over-prediction wastes f per idle unit-minute until the next decision. A reactive controller is wrong in the damaging way. In simulation we multiplied one hour per function by 3, 4 or 5 after the forecast was made: the hybrids served everything; a x5 spike adds $4.4k to $5.7k per month. The ML forecaster over-reacts after a spike because its features include the spiked hour; a production system would clip forecasts after an anomaly. Live arm D repeated this on AWS: no request failed, but about 20 percent were slower than the 800 millisecond target, because the load balancer let EC2 run at its full capacity and weight changes take about 12 seconds to apply. The fix we would try first is a safety factor on capacity; we did not test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 upfront. Azure traffic is priced with AWS prices. Capacity is measured for one synthetic request on one instance type from a coarse grid. Live arms are short, time-compressed, single runs from one laptop. Energy is an estimate. AWS predictive scaling was not run live because it needs 24 hours of history. The hybrid advantage depends on measured capacity and Lambda price. Future work: storage tiering, network cost, a Fargate base, multi-region, anomaly-aware forecasting, and overflow-only routing.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Summarise. The newsvendor rule gives a principled base size and matches brute force. In simulation the hybrid serves all load at $32.2k per month against $54.6k all-Lambda and $37.5k reactive with 9.2 percent dropped. The ML forecaster adds almost nothing over a rolling quantile, and by an estimate the hybrid does not save energy. The live AWS runs are reconciled with a simulator replay. Thank the audience and invite questions.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Prices from the AWS Price List API for ap-south-1, retrieved on the date shown. Azure traffic is priced with AWS prices. Lambda memory is the larger of 128 MB and the application's memory. Container capacity is the measured value for EC2; the Fargate capacity is assumed.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Hybrid-rolling cost relative to all-Lambda under each scenario. The advantage is large when containers carry more load per unit or Lambda is dearer, and small when capacity per unit is halved or Lambda is half price. The EC2 discount scenario is hypothetical, not an AWS-quoted figure.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8" name="Shape 58"/>
        <p:cNvGrpSpPr/>
        <p:nvPr/>
      </p:nvGrpSpPr>
      <p:grpSpPr>
        <a:xfrm>
          <a:off x="0" y="0"/>
          <a:ext cx="0" cy="0"/>
          <a:chOff x="0" y="0"/>
          <a:chExt cx="0" cy="0"/>
        </a:xfrm>
      </p:grpSpPr>
      <p:sp>
        <p:nvSpPr>
          <p:cNvPr id="59" name="Google Shape;59;p14"/>
          <p:cNvSpPr txBox="1"/>
          <p:nvPr>
            <p:ph type="title"/>
          </p:nvPr>
        </p:nvSpPr>
        <p:spPr>
          <a:xfrm>
            <a:off x="314325" y="57150"/>
            <a:ext cx="7240200" cy="822900"/>
          </a:xfrm>
          <a:prstGeom prst="rect">
            <a:avLst/>
          </a:prstGeom>
          <a:noFill/>
          <a:ln>
            <a:noFill/>
          </a:ln>
        </p:spPr>
        <p:txBody>
          <a:bodyPr anchorCtr="0" anchor="b" bIns="34275" lIns="0" spcFirstLastPara="1" rIns="0" wrap="square" tIns="34275">
            <a:noAutofit/>
          </a:bodyPr>
          <a:lstStyle>
            <a:lvl1pPr lvl="0" rtl="0" algn="l">
              <a:lnSpc>
                <a:spcPct val="90000"/>
              </a:lnSpc>
              <a:spcBef>
                <a:spcPts val="0"/>
              </a:spcBef>
              <a:spcAft>
                <a:spcPts val="0"/>
              </a:spcAft>
              <a:buClr>
                <a:srgbClr val="B7202E"/>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0" name="Google Shape;60;p14"/>
          <p:cNvSpPr txBox="1"/>
          <p:nvPr>
            <p:ph idx="12" type="sldNum"/>
          </p:nvPr>
        </p:nvSpPr>
        <p:spPr>
          <a:xfrm>
            <a:off x="8475260" y="4901474"/>
            <a:ext cx="599700" cy="273900"/>
          </a:xfrm>
          <a:prstGeom prst="rect">
            <a:avLst/>
          </a:prstGeom>
          <a:noFill/>
          <a:ln>
            <a:noFill/>
          </a:ln>
        </p:spPr>
        <p:txBody>
          <a:bodyPr anchorCtr="0" anchor="t" bIns="34275" lIns="68575" spcFirstLastPara="1" rIns="68575" wrap="square" tIns="34275">
            <a:noAutofit/>
          </a:bodyPr>
          <a:lstStyle>
            <a:lvl1pPr indent="0" lvl="0"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1pPr>
            <a:lvl2pPr indent="0" lvl="1"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2pPr>
            <a:lvl3pPr indent="0" lvl="2"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3pPr>
            <a:lvl4pPr indent="0" lvl="3"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4pPr>
            <a:lvl5pPr indent="0" lvl="4"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5pPr>
            <a:lvl6pPr indent="0" lvl="5"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6pPr>
            <a:lvl7pPr indent="0" lvl="6"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7pPr>
            <a:lvl8pPr indent="0" lvl="7"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8pPr>
            <a:lvl9pPr indent="0" lvl="8"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1" name="Shape 61"/>
        <p:cNvGrpSpPr/>
        <p:nvPr/>
      </p:nvGrpSpPr>
      <p:grpSpPr>
        <a:xfrm>
          <a:off x="0" y="0"/>
          <a:ext cx="0" cy="0"/>
          <a:chOff x="0" y="0"/>
          <a:chExt cx="0" cy="0"/>
        </a:xfrm>
      </p:grpSpPr>
      <p:sp>
        <p:nvSpPr>
          <p:cNvPr id="62" name="Google Shape;62;p15"/>
          <p:cNvSpPr txBox="1"/>
          <p:nvPr>
            <p:ph type="title"/>
          </p:nvPr>
        </p:nvSpPr>
        <p:spPr>
          <a:xfrm>
            <a:off x="314325" y="57150"/>
            <a:ext cx="7240200" cy="822900"/>
          </a:xfrm>
          <a:prstGeom prst="rect">
            <a:avLst/>
          </a:prstGeom>
          <a:noFill/>
          <a:ln>
            <a:noFill/>
          </a:ln>
        </p:spPr>
        <p:txBody>
          <a:bodyPr anchorCtr="0" anchor="b" bIns="34275" lIns="0" spcFirstLastPara="1" rIns="0" wrap="square" tIns="34275">
            <a:noAutofit/>
          </a:bodyPr>
          <a:lstStyle>
            <a:lvl1pPr lvl="0" rtl="0" algn="l">
              <a:lnSpc>
                <a:spcPct val="90000"/>
              </a:lnSpc>
              <a:spcBef>
                <a:spcPts val="0"/>
              </a:spcBef>
              <a:spcAft>
                <a:spcPts val="0"/>
              </a:spcAft>
              <a:buClr>
                <a:srgbClr val="B7202E"/>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3" name="Google Shape;63;p15"/>
          <p:cNvSpPr txBox="1"/>
          <p:nvPr>
            <p:ph idx="1" type="body"/>
          </p:nvPr>
        </p:nvSpPr>
        <p:spPr>
          <a:xfrm>
            <a:off x="333375" y="1009650"/>
            <a:ext cx="8458200" cy="3591000"/>
          </a:xfrm>
          <a:prstGeom prst="rect">
            <a:avLst/>
          </a:prstGeom>
          <a:noFill/>
          <a:ln>
            <a:noFill/>
          </a:ln>
        </p:spPr>
        <p:txBody>
          <a:bodyPr anchorCtr="0" anchor="t" bIns="34275" lIns="0" spcFirstLastPara="1" rIns="0" wrap="square" tIns="34275">
            <a:noAutofit/>
          </a:bodyPr>
          <a:lstStyle>
            <a:lvl1pPr indent="-317500" lvl="0" marL="457200" rtl="0" algn="l">
              <a:lnSpc>
                <a:spcPct val="90000"/>
              </a:lnSpc>
              <a:spcBef>
                <a:spcPts val="1400"/>
              </a:spcBef>
              <a:spcAft>
                <a:spcPts val="0"/>
              </a:spcAft>
              <a:buClr>
                <a:srgbClr val="58595B"/>
              </a:buClr>
              <a:buSzPts val="1400"/>
              <a:buChar char="▪"/>
              <a:defRPr/>
            </a:lvl1pPr>
            <a:lvl2pPr indent="-317500" lvl="1" marL="914400" rtl="0" algn="l">
              <a:lnSpc>
                <a:spcPct val="90000"/>
              </a:lnSpc>
              <a:spcBef>
                <a:spcPts val="500"/>
              </a:spcBef>
              <a:spcAft>
                <a:spcPts val="0"/>
              </a:spcAft>
              <a:buClr>
                <a:srgbClr val="58595B"/>
              </a:buClr>
              <a:buSzPts val="1400"/>
              <a:buChar char="▪"/>
              <a:defRPr/>
            </a:lvl2pPr>
            <a:lvl3pPr indent="-317500" lvl="2" marL="1371600" rtl="0" algn="l">
              <a:lnSpc>
                <a:spcPct val="90000"/>
              </a:lnSpc>
              <a:spcBef>
                <a:spcPts val="500"/>
              </a:spcBef>
              <a:spcAft>
                <a:spcPts val="0"/>
              </a:spcAft>
              <a:buClr>
                <a:srgbClr val="58595B"/>
              </a:buClr>
              <a:buSzPts val="1400"/>
              <a:buChar char="▪"/>
              <a:defRPr/>
            </a:lvl3pPr>
            <a:lvl4pPr indent="-317500" lvl="3" marL="1828800" rtl="0" algn="l">
              <a:lnSpc>
                <a:spcPct val="90000"/>
              </a:lnSpc>
              <a:spcBef>
                <a:spcPts val="500"/>
              </a:spcBef>
              <a:spcAft>
                <a:spcPts val="0"/>
              </a:spcAft>
              <a:buClr>
                <a:srgbClr val="58595B"/>
              </a:buClr>
              <a:buSzPts val="1400"/>
              <a:buChar char="▪"/>
              <a:defRPr/>
            </a:lvl4pPr>
            <a:lvl5pPr indent="-317500" lvl="4" marL="2286000" rtl="0" algn="l">
              <a:lnSpc>
                <a:spcPct val="90000"/>
              </a:lnSpc>
              <a:spcBef>
                <a:spcPts val="500"/>
              </a:spcBef>
              <a:spcAft>
                <a:spcPts val="0"/>
              </a:spcAft>
              <a:buClr>
                <a:srgbClr val="58595B"/>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4" name="Google Shape;64;p15"/>
          <p:cNvSpPr txBox="1"/>
          <p:nvPr>
            <p:ph idx="12" type="sldNum"/>
          </p:nvPr>
        </p:nvSpPr>
        <p:spPr>
          <a:xfrm>
            <a:off x="8475260" y="4911710"/>
            <a:ext cx="599700" cy="273900"/>
          </a:xfrm>
          <a:prstGeom prst="rect">
            <a:avLst/>
          </a:prstGeom>
          <a:noFill/>
          <a:ln>
            <a:noFill/>
          </a:ln>
        </p:spPr>
        <p:txBody>
          <a:bodyPr anchorCtr="0" anchor="t" bIns="34275" lIns="68575" spcFirstLastPara="1" rIns="68575" wrap="square" tIns="34275">
            <a:noAutofit/>
          </a:bodyPr>
          <a:lstStyle>
            <a:lvl1pPr indent="0" lvl="0"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1pPr>
            <a:lvl2pPr indent="0" lvl="1"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2pPr>
            <a:lvl3pPr indent="0" lvl="2"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3pPr>
            <a:lvl4pPr indent="0" lvl="3"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4pPr>
            <a:lvl5pPr indent="0" lvl="4"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5pPr>
            <a:lvl6pPr indent="0" lvl="5"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6pPr>
            <a:lvl7pPr indent="0" lvl="6"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7pPr>
            <a:lvl8pPr indent="0" lvl="7"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8pPr>
            <a:lvl9pPr indent="0" lvl="8"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5" name="Shape 65"/>
        <p:cNvGrpSpPr/>
        <p:nvPr/>
      </p:nvGrpSpPr>
      <p:grpSpPr>
        <a:xfrm>
          <a:off x="0" y="0"/>
          <a:ext cx="0" cy="0"/>
          <a:chOff x="0" y="0"/>
          <a:chExt cx="0" cy="0"/>
        </a:xfrm>
      </p:grpSpPr>
      <p:sp>
        <p:nvSpPr>
          <p:cNvPr id="66" name="Google Shape;66;p16"/>
          <p:cNvSpPr txBox="1"/>
          <p:nvPr>
            <p:ph type="title"/>
          </p:nvPr>
        </p:nvSpPr>
        <p:spPr>
          <a:xfrm>
            <a:off x="314325" y="57150"/>
            <a:ext cx="7240200" cy="822900"/>
          </a:xfrm>
          <a:prstGeom prst="rect">
            <a:avLst/>
          </a:prstGeom>
          <a:noFill/>
          <a:ln>
            <a:noFill/>
          </a:ln>
        </p:spPr>
        <p:txBody>
          <a:bodyPr anchorCtr="0" anchor="b" bIns="34275" lIns="0" spcFirstLastPara="1" rIns="0" wrap="square" tIns="34275">
            <a:noAutofit/>
          </a:bodyPr>
          <a:lstStyle>
            <a:lvl1pPr lvl="0" rtl="0" algn="l">
              <a:lnSpc>
                <a:spcPct val="90000"/>
              </a:lnSpc>
              <a:spcBef>
                <a:spcPts val="0"/>
              </a:spcBef>
              <a:spcAft>
                <a:spcPts val="0"/>
              </a:spcAft>
              <a:buClr>
                <a:srgbClr val="B7202E"/>
              </a:buClr>
              <a:buSzPts val="2400"/>
              <a:buFont typeface="Marcellus"/>
              <a:buNone/>
              <a:defRPr sz="2400"/>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7" name="Google Shape;67;p16"/>
          <p:cNvSpPr txBox="1"/>
          <p:nvPr>
            <p:ph idx="1" type="body"/>
          </p:nvPr>
        </p:nvSpPr>
        <p:spPr>
          <a:xfrm>
            <a:off x="333375" y="1028700"/>
            <a:ext cx="3429000" cy="3575700"/>
          </a:xfrm>
          <a:prstGeom prst="rect">
            <a:avLst/>
          </a:prstGeom>
          <a:noFill/>
          <a:ln>
            <a:noFill/>
          </a:ln>
        </p:spPr>
        <p:txBody>
          <a:bodyPr anchorCtr="0" anchor="t" bIns="34275" lIns="0" spcFirstLastPara="1" rIns="0" wrap="square" tIns="34275">
            <a:noAutofit/>
          </a:bodyPr>
          <a:lstStyle>
            <a:lvl1pPr indent="-228600" lvl="0" marL="457200" rtl="0" algn="l">
              <a:lnSpc>
                <a:spcPct val="90000"/>
              </a:lnSpc>
              <a:spcBef>
                <a:spcPts val="900"/>
              </a:spcBef>
              <a:spcAft>
                <a:spcPts val="0"/>
              </a:spcAft>
              <a:buClr>
                <a:srgbClr val="58595B"/>
              </a:buClr>
              <a:buSzPts val="1400"/>
              <a:buNone/>
              <a:defRPr sz="1400"/>
            </a:lvl1pPr>
            <a:lvl2pPr indent="-228600" lvl="1" marL="914400" rtl="0" algn="l">
              <a:lnSpc>
                <a:spcPct val="90000"/>
              </a:lnSpc>
              <a:spcBef>
                <a:spcPts val="500"/>
              </a:spcBef>
              <a:spcAft>
                <a:spcPts val="0"/>
              </a:spcAft>
              <a:buClr>
                <a:srgbClr val="58595B"/>
              </a:buClr>
              <a:buSzPts val="1100"/>
              <a:buNone/>
              <a:defRPr sz="1100"/>
            </a:lvl2pPr>
            <a:lvl3pPr indent="-228600" lvl="2" marL="1371600" rtl="0" algn="l">
              <a:lnSpc>
                <a:spcPct val="90000"/>
              </a:lnSpc>
              <a:spcBef>
                <a:spcPts val="500"/>
              </a:spcBef>
              <a:spcAft>
                <a:spcPts val="0"/>
              </a:spcAft>
              <a:buClr>
                <a:srgbClr val="58595B"/>
              </a:buClr>
              <a:buSzPts val="900"/>
              <a:buNone/>
              <a:defRPr sz="900"/>
            </a:lvl3pPr>
            <a:lvl4pPr indent="-228600" lvl="3" marL="1828800" rtl="0" algn="l">
              <a:lnSpc>
                <a:spcPct val="90000"/>
              </a:lnSpc>
              <a:spcBef>
                <a:spcPts val="500"/>
              </a:spcBef>
              <a:spcAft>
                <a:spcPts val="0"/>
              </a:spcAft>
              <a:buClr>
                <a:srgbClr val="58595B"/>
              </a:buClr>
              <a:buSzPts val="800"/>
              <a:buNone/>
              <a:defRPr sz="800"/>
            </a:lvl4pPr>
            <a:lvl5pPr indent="-228600" lvl="4" marL="2286000" rtl="0" algn="l">
              <a:lnSpc>
                <a:spcPct val="90000"/>
              </a:lnSpc>
              <a:spcBef>
                <a:spcPts val="500"/>
              </a:spcBef>
              <a:spcAft>
                <a:spcPts val="0"/>
              </a:spcAft>
              <a:buClr>
                <a:srgbClr val="58595B"/>
              </a:buClr>
              <a:buSzPts val="800"/>
              <a:buNone/>
              <a:defRPr sz="800"/>
            </a:lvl5pPr>
            <a:lvl6pPr indent="-228600" lvl="5" marL="2743200" rtl="0" algn="l">
              <a:lnSpc>
                <a:spcPct val="90000"/>
              </a:lnSpc>
              <a:spcBef>
                <a:spcPts val="400"/>
              </a:spcBef>
              <a:spcAft>
                <a:spcPts val="0"/>
              </a:spcAft>
              <a:buClr>
                <a:schemeClr val="dk1"/>
              </a:buClr>
              <a:buSzPts val="800"/>
              <a:buNone/>
              <a:defRPr sz="800"/>
            </a:lvl6pPr>
            <a:lvl7pPr indent="-228600" lvl="6" marL="3200400" rtl="0" algn="l">
              <a:lnSpc>
                <a:spcPct val="90000"/>
              </a:lnSpc>
              <a:spcBef>
                <a:spcPts val="400"/>
              </a:spcBef>
              <a:spcAft>
                <a:spcPts val="0"/>
              </a:spcAft>
              <a:buClr>
                <a:schemeClr val="dk1"/>
              </a:buClr>
              <a:buSzPts val="800"/>
              <a:buNone/>
              <a:defRPr sz="800"/>
            </a:lvl7pPr>
            <a:lvl8pPr indent="-228600" lvl="7" marL="3657600" rtl="0" algn="l">
              <a:lnSpc>
                <a:spcPct val="90000"/>
              </a:lnSpc>
              <a:spcBef>
                <a:spcPts val="400"/>
              </a:spcBef>
              <a:spcAft>
                <a:spcPts val="0"/>
              </a:spcAft>
              <a:buClr>
                <a:schemeClr val="dk1"/>
              </a:buClr>
              <a:buSzPts val="800"/>
              <a:buNone/>
              <a:defRPr sz="800"/>
            </a:lvl8pPr>
            <a:lvl9pPr indent="-228600" lvl="8" marL="4114800" rtl="0" algn="l">
              <a:lnSpc>
                <a:spcPct val="90000"/>
              </a:lnSpc>
              <a:spcBef>
                <a:spcPts val="400"/>
              </a:spcBef>
              <a:spcAft>
                <a:spcPts val="0"/>
              </a:spcAft>
              <a:buClr>
                <a:schemeClr val="dk1"/>
              </a:buClr>
              <a:buSzPts val="800"/>
              <a:buNone/>
              <a:defRPr sz="800"/>
            </a:lvl9pPr>
          </a:lstStyle>
          <a:p/>
        </p:txBody>
      </p:sp>
      <p:sp>
        <p:nvSpPr>
          <p:cNvPr id="68" name="Google Shape;68;p16"/>
          <p:cNvSpPr txBox="1"/>
          <p:nvPr>
            <p:ph idx="2" type="body"/>
          </p:nvPr>
        </p:nvSpPr>
        <p:spPr>
          <a:xfrm>
            <a:off x="3907536" y="1028699"/>
            <a:ext cx="4264800" cy="3580800"/>
          </a:xfrm>
          <a:prstGeom prst="rect">
            <a:avLst/>
          </a:prstGeom>
          <a:noFill/>
          <a:ln>
            <a:noFill/>
          </a:ln>
        </p:spPr>
        <p:txBody>
          <a:bodyPr anchorCtr="0" anchor="t" bIns="34275" lIns="0" spcFirstLastPara="1" rIns="0" wrap="square" tIns="34275">
            <a:noAutofit/>
          </a:bodyPr>
          <a:lstStyle>
            <a:lvl1pPr indent="-323850" lvl="0" marL="457200" rtl="0" algn="l">
              <a:lnSpc>
                <a:spcPct val="90000"/>
              </a:lnSpc>
              <a:spcBef>
                <a:spcPts val="1400"/>
              </a:spcBef>
              <a:spcAft>
                <a:spcPts val="0"/>
              </a:spcAft>
              <a:buClr>
                <a:srgbClr val="58595B"/>
              </a:buClr>
              <a:buSzPts val="1500"/>
              <a:buChar char="▪"/>
              <a:defRPr sz="1500"/>
            </a:lvl1pPr>
            <a:lvl2pPr indent="-304800" lvl="1" marL="914400" rtl="0" algn="l">
              <a:lnSpc>
                <a:spcPct val="90000"/>
              </a:lnSpc>
              <a:spcBef>
                <a:spcPts val="500"/>
              </a:spcBef>
              <a:spcAft>
                <a:spcPts val="0"/>
              </a:spcAft>
              <a:buClr>
                <a:srgbClr val="58595B"/>
              </a:buClr>
              <a:buSzPts val="1200"/>
              <a:buChar char="▪"/>
              <a:defRPr sz="1200"/>
            </a:lvl2pPr>
            <a:lvl3pPr indent="-304800" lvl="2" marL="1371600" rtl="0" algn="l">
              <a:lnSpc>
                <a:spcPct val="90000"/>
              </a:lnSpc>
              <a:spcBef>
                <a:spcPts val="500"/>
              </a:spcBef>
              <a:spcAft>
                <a:spcPts val="0"/>
              </a:spcAft>
              <a:buClr>
                <a:srgbClr val="58595B"/>
              </a:buClr>
              <a:buSzPts val="1200"/>
              <a:buChar char="▪"/>
              <a:defRPr sz="1200"/>
            </a:lvl3pPr>
            <a:lvl4pPr indent="-298450" lvl="3" marL="1828800" rtl="0" algn="l">
              <a:lnSpc>
                <a:spcPct val="90000"/>
              </a:lnSpc>
              <a:spcBef>
                <a:spcPts val="500"/>
              </a:spcBef>
              <a:spcAft>
                <a:spcPts val="0"/>
              </a:spcAft>
              <a:buClr>
                <a:srgbClr val="58595B"/>
              </a:buClr>
              <a:buSzPts val="1100"/>
              <a:buChar char="▪"/>
              <a:defRPr sz="1100"/>
            </a:lvl4pPr>
            <a:lvl5pPr indent="-298450" lvl="4" marL="2286000" rtl="0" algn="l">
              <a:lnSpc>
                <a:spcPct val="90000"/>
              </a:lnSpc>
              <a:spcBef>
                <a:spcPts val="500"/>
              </a:spcBef>
              <a:spcAft>
                <a:spcPts val="0"/>
              </a:spcAft>
              <a:buClr>
                <a:srgbClr val="58595B"/>
              </a:buClr>
              <a:buSzPts val="11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sp>
        <p:nvSpPr>
          <p:cNvPr id="69" name="Google Shape;69;p16"/>
          <p:cNvSpPr txBox="1"/>
          <p:nvPr>
            <p:ph idx="12" type="sldNum"/>
          </p:nvPr>
        </p:nvSpPr>
        <p:spPr>
          <a:xfrm>
            <a:off x="8475260" y="4901474"/>
            <a:ext cx="599700" cy="273900"/>
          </a:xfrm>
          <a:prstGeom prst="rect">
            <a:avLst/>
          </a:prstGeom>
          <a:noFill/>
          <a:ln>
            <a:noFill/>
          </a:ln>
        </p:spPr>
        <p:txBody>
          <a:bodyPr anchorCtr="0" anchor="t" bIns="34275" lIns="68575" spcFirstLastPara="1" rIns="68575" wrap="square" tIns="34275">
            <a:noAutofit/>
          </a:bodyPr>
          <a:lstStyle>
            <a:lvl1pPr indent="0" lvl="0"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1pPr>
            <a:lvl2pPr indent="0" lvl="1"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2pPr>
            <a:lvl3pPr indent="0" lvl="2"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3pPr>
            <a:lvl4pPr indent="0" lvl="3"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4pPr>
            <a:lvl5pPr indent="0" lvl="4"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5pPr>
            <a:lvl6pPr indent="0" lvl="5"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6pPr>
            <a:lvl7pPr indent="0" lvl="6"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7pPr>
            <a:lvl8pPr indent="0" lvl="7"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8pPr>
            <a:lvl9pPr indent="0" lvl="8"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0" name="Shape 70"/>
        <p:cNvGrpSpPr/>
        <p:nvPr/>
      </p:nvGrpSpPr>
      <p:grpSpPr>
        <a:xfrm>
          <a:off x="0" y="0"/>
          <a:ext cx="0" cy="0"/>
          <a:chOff x="0" y="0"/>
          <a:chExt cx="0" cy="0"/>
        </a:xfrm>
      </p:grpSpPr>
      <p:sp>
        <p:nvSpPr>
          <p:cNvPr id="71" name="Google Shape;71;p17"/>
          <p:cNvSpPr txBox="1"/>
          <p:nvPr>
            <p:ph type="title"/>
          </p:nvPr>
        </p:nvSpPr>
        <p:spPr>
          <a:xfrm>
            <a:off x="314325" y="57150"/>
            <a:ext cx="7240200" cy="822900"/>
          </a:xfrm>
          <a:prstGeom prst="rect">
            <a:avLst/>
          </a:prstGeom>
          <a:noFill/>
          <a:ln>
            <a:noFill/>
          </a:ln>
        </p:spPr>
        <p:txBody>
          <a:bodyPr anchorCtr="0" anchor="b" bIns="34275" lIns="0" spcFirstLastPara="1" rIns="0" wrap="square" tIns="34275">
            <a:noAutofit/>
          </a:bodyPr>
          <a:lstStyle>
            <a:lvl1pPr lvl="0" rtl="0" algn="l">
              <a:lnSpc>
                <a:spcPct val="90000"/>
              </a:lnSpc>
              <a:spcBef>
                <a:spcPts val="0"/>
              </a:spcBef>
              <a:spcAft>
                <a:spcPts val="0"/>
              </a:spcAft>
              <a:buClr>
                <a:srgbClr val="B7202E"/>
              </a:buClr>
              <a:buSzPts val="2400"/>
              <a:buFont typeface="Marcellus"/>
              <a:buNone/>
              <a:defRPr sz="2400"/>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2" name="Google Shape;72;p17"/>
          <p:cNvSpPr txBox="1"/>
          <p:nvPr>
            <p:ph idx="1" type="body"/>
          </p:nvPr>
        </p:nvSpPr>
        <p:spPr>
          <a:xfrm>
            <a:off x="323850" y="990599"/>
            <a:ext cx="2695500" cy="3627900"/>
          </a:xfrm>
          <a:prstGeom prst="rect">
            <a:avLst/>
          </a:prstGeom>
          <a:noFill/>
          <a:ln>
            <a:noFill/>
          </a:ln>
        </p:spPr>
        <p:txBody>
          <a:bodyPr anchorCtr="0" anchor="t" bIns="34275" lIns="0" spcFirstLastPara="1" rIns="0" wrap="square" tIns="34275">
            <a:noAutofit/>
          </a:bodyPr>
          <a:lstStyle>
            <a:lvl1pPr indent="-228600" lvl="0" marL="457200" rtl="0" algn="l">
              <a:lnSpc>
                <a:spcPct val="90000"/>
              </a:lnSpc>
              <a:spcBef>
                <a:spcPts val="900"/>
              </a:spcBef>
              <a:spcAft>
                <a:spcPts val="0"/>
              </a:spcAft>
              <a:buClr>
                <a:srgbClr val="58595B"/>
              </a:buClr>
              <a:buSzPts val="1400"/>
              <a:buNone/>
              <a:defRPr sz="1400"/>
            </a:lvl1pPr>
            <a:lvl2pPr indent="-228600" lvl="1" marL="914400" rtl="0" algn="l">
              <a:lnSpc>
                <a:spcPct val="90000"/>
              </a:lnSpc>
              <a:spcBef>
                <a:spcPts val="500"/>
              </a:spcBef>
              <a:spcAft>
                <a:spcPts val="0"/>
              </a:spcAft>
              <a:buClr>
                <a:srgbClr val="58595B"/>
              </a:buClr>
              <a:buSzPts val="1100"/>
              <a:buNone/>
              <a:defRPr sz="1100"/>
            </a:lvl2pPr>
            <a:lvl3pPr indent="-228600" lvl="2" marL="1371600" rtl="0" algn="l">
              <a:lnSpc>
                <a:spcPct val="90000"/>
              </a:lnSpc>
              <a:spcBef>
                <a:spcPts val="500"/>
              </a:spcBef>
              <a:spcAft>
                <a:spcPts val="0"/>
              </a:spcAft>
              <a:buClr>
                <a:srgbClr val="58595B"/>
              </a:buClr>
              <a:buSzPts val="900"/>
              <a:buNone/>
              <a:defRPr sz="900"/>
            </a:lvl3pPr>
            <a:lvl4pPr indent="-228600" lvl="3" marL="1828800" rtl="0" algn="l">
              <a:lnSpc>
                <a:spcPct val="90000"/>
              </a:lnSpc>
              <a:spcBef>
                <a:spcPts val="500"/>
              </a:spcBef>
              <a:spcAft>
                <a:spcPts val="0"/>
              </a:spcAft>
              <a:buClr>
                <a:srgbClr val="58595B"/>
              </a:buClr>
              <a:buSzPts val="800"/>
              <a:buNone/>
              <a:defRPr sz="800"/>
            </a:lvl4pPr>
            <a:lvl5pPr indent="-228600" lvl="4" marL="2286000" rtl="0" algn="l">
              <a:lnSpc>
                <a:spcPct val="90000"/>
              </a:lnSpc>
              <a:spcBef>
                <a:spcPts val="500"/>
              </a:spcBef>
              <a:spcAft>
                <a:spcPts val="0"/>
              </a:spcAft>
              <a:buClr>
                <a:srgbClr val="58595B"/>
              </a:buClr>
              <a:buSzPts val="800"/>
              <a:buNone/>
              <a:defRPr sz="800"/>
            </a:lvl5pPr>
            <a:lvl6pPr indent="-228600" lvl="5" marL="2743200" rtl="0" algn="l">
              <a:lnSpc>
                <a:spcPct val="90000"/>
              </a:lnSpc>
              <a:spcBef>
                <a:spcPts val="400"/>
              </a:spcBef>
              <a:spcAft>
                <a:spcPts val="0"/>
              </a:spcAft>
              <a:buClr>
                <a:schemeClr val="dk1"/>
              </a:buClr>
              <a:buSzPts val="800"/>
              <a:buNone/>
              <a:defRPr sz="800"/>
            </a:lvl6pPr>
            <a:lvl7pPr indent="-228600" lvl="6" marL="3200400" rtl="0" algn="l">
              <a:lnSpc>
                <a:spcPct val="90000"/>
              </a:lnSpc>
              <a:spcBef>
                <a:spcPts val="400"/>
              </a:spcBef>
              <a:spcAft>
                <a:spcPts val="0"/>
              </a:spcAft>
              <a:buClr>
                <a:schemeClr val="dk1"/>
              </a:buClr>
              <a:buSzPts val="800"/>
              <a:buNone/>
              <a:defRPr sz="800"/>
            </a:lvl7pPr>
            <a:lvl8pPr indent="-228600" lvl="7" marL="3657600" rtl="0" algn="l">
              <a:lnSpc>
                <a:spcPct val="90000"/>
              </a:lnSpc>
              <a:spcBef>
                <a:spcPts val="400"/>
              </a:spcBef>
              <a:spcAft>
                <a:spcPts val="0"/>
              </a:spcAft>
              <a:buClr>
                <a:schemeClr val="dk1"/>
              </a:buClr>
              <a:buSzPts val="800"/>
              <a:buNone/>
              <a:defRPr sz="800"/>
            </a:lvl8pPr>
            <a:lvl9pPr indent="-228600" lvl="8" marL="4114800" rtl="0" algn="l">
              <a:lnSpc>
                <a:spcPct val="90000"/>
              </a:lnSpc>
              <a:spcBef>
                <a:spcPts val="400"/>
              </a:spcBef>
              <a:spcAft>
                <a:spcPts val="0"/>
              </a:spcAft>
              <a:buClr>
                <a:schemeClr val="dk1"/>
              </a:buClr>
              <a:buSzPts val="800"/>
              <a:buNone/>
              <a:defRPr sz="800"/>
            </a:lvl9pPr>
          </a:lstStyle>
          <a:p/>
        </p:txBody>
      </p:sp>
      <p:sp>
        <p:nvSpPr>
          <p:cNvPr descr="An empty placeholder to add an image. Click on the placeholder and select the image that you wish to add." id="73" name="Google Shape;73;p17"/>
          <p:cNvSpPr/>
          <p:nvPr>
            <p:ph idx="2" type="pic"/>
          </p:nvPr>
        </p:nvSpPr>
        <p:spPr>
          <a:xfrm>
            <a:off x="3100478" y="1000124"/>
            <a:ext cx="5131500" cy="3648300"/>
          </a:xfrm>
          <a:prstGeom prst="rect">
            <a:avLst/>
          </a:prstGeom>
          <a:noFill/>
          <a:ln>
            <a:noFill/>
          </a:ln>
        </p:spPr>
      </p:sp>
      <p:sp>
        <p:nvSpPr>
          <p:cNvPr id="74" name="Google Shape;74;p17"/>
          <p:cNvSpPr txBox="1"/>
          <p:nvPr>
            <p:ph idx="12" type="sldNum"/>
          </p:nvPr>
        </p:nvSpPr>
        <p:spPr>
          <a:xfrm>
            <a:off x="8475260" y="4901474"/>
            <a:ext cx="599700" cy="273900"/>
          </a:xfrm>
          <a:prstGeom prst="rect">
            <a:avLst/>
          </a:prstGeom>
          <a:noFill/>
          <a:ln>
            <a:noFill/>
          </a:ln>
        </p:spPr>
        <p:txBody>
          <a:bodyPr anchorCtr="0" anchor="t" bIns="34275" lIns="68575" spcFirstLastPara="1" rIns="68575" wrap="square" tIns="34275">
            <a:noAutofit/>
          </a:bodyPr>
          <a:lstStyle>
            <a:lvl1pPr indent="0" lvl="0"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1pPr>
            <a:lvl2pPr indent="0" lvl="1"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2pPr>
            <a:lvl3pPr indent="0" lvl="2"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3pPr>
            <a:lvl4pPr indent="0" lvl="3"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4pPr>
            <a:lvl5pPr indent="0" lvl="4"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5pPr>
            <a:lvl6pPr indent="0" lvl="5"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6pPr>
            <a:lvl7pPr indent="0" lvl="6"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7pPr>
            <a:lvl8pPr indent="0" lvl="7"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8pPr>
            <a:lvl9pPr indent="0" lvl="8"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5" name="Shape 75"/>
        <p:cNvGrpSpPr/>
        <p:nvPr/>
      </p:nvGrpSpPr>
      <p:grpSpPr>
        <a:xfrm>
          <a:off x="0" y="0"/>
          <a:ext cx="0" cy="0"/>
          <a:chOff x="0" y="0"/>
          <a:chExt cx="0" cy="0"/>
        </a:xfrm>
      </p:grpSpPr>
      <p:sp>
        <p:nvSpPr>
          <p:cNvPr id="76" name="Google Shape;76;p18"/>
          <p:cNvSpPr txBox="1"/>
          <p:nvPr>
            <p:ph type="title"/>
          </p:nvPr>
        </p:nvSpPr>
        <p:spPr>
          <a:xfrm>
            <a:off x="314325" y="57150"/>
            <a:ext cx="7240200" cy="822900"/>
          </a:xfrm>
          <a:prstGeom prst="rect">
            <a:avLst/>
          </a:prstGeom>
          <a:noFill/>
          <a:ln>
            <a:noFill/>
          </a:ln>
        </p:spPr>
        <p:txBody>
          <a:bodyPr anchorCtr="0" anchor="b" bIns="34275" lIns="0" spcFirstLastPara="1" rIns="0" wrap="square" tIns="34275">
            <a:noAutofit/>
          </a:bodyPr>
          <a:lstStyle>
            <a:lvl1pPr lvl="0" rtl="0" algn="l">
              <a:lnSpc>
                <a:spcPct val="90000"/>
              </a:lnSpc>
              <a:spcBef>
                <a:spcPts val="0"/>
              </a:spcBef>
              <a:spcAft>
                <a:spcPts val="0"/>
              </a:spcAft>
              <a:buClr>
                <a:srgbClr val="B7202E"/>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7" name="Google Shape;77;p18"/>
          <p:cNvSpPr txBox="1"/>
          <p:nvPr>
            <p:ph idx="1" type="body"/>
          </p:nvPr>
        </p:nvSpPr>
        <p:spPr>
          <a:xfrm rot="5400000">
            <a:off x="2766975" y="-1423950"/>
            <a:ext cx="3591000" cy="8458200"/>
          </a:xfrm>
          <a:prstGeom prst="rect">
            <a:avLst/>
          </a:prstGeom>
          <a:noFill/>
          <a:ln>
            <a:noFill/>
          </a:ln>
        </p:spPr>
        <p:txBody>
          <a:bodyPr anchorCtr="0" anchor="t" bIns="34275" lIns="0" spcFirstLastPara="1" rIns="0" wrap="square" tIns="34275">
            <a:noAutofit/>
          </a:bodyPr>
          <a:lstStyle>
            <a:lvl1pPr indent="-317500" lvl="0" marL="457200" rtl="0" algn="l">
              <a:lnSpc>
                <a:spcPct val="90000"/>
              </a:lnSpc>
              <a:spcBef>
                <a:spcPts val="1400"/>
              </a:spcBef>
              <a:spcAft>
                <a:spcPts val="0"/>
              </a:spcAft>
              <a:buClr>
                <a:srgbClr val="58595B"/>
              </a:buClr>
              <a:buSzPts val="1400"/>
              <a:buChar char="▪"/>
              <a:defRPr/>
            </a:lvl1pPr>
            <a:lvl2pPr indent="-317500" lvl="1" marL="914400" rtl="0" algn="l">
              <a:lnSpc>
                <a:spcPct val="90000"/>
              </a:lnSpc>
              <a:spcBef>
                <a:spcPts val="500"/>
              </a:spcBef>
              <a:spcAft>
                <a:spcPts val="0"/>
              </a:spcAft>
              <a:buClr>
                <a:srgbClr val="58595B"/>
              </a:buClr>
              <a:buSzPts val="1400"/>
              <a:buChar char="▪"/>
              <a:defRPr/>
            </a:lvl2pPr>
            <a:lvl3pPr indent="-317500" lvl="2" marL="1371600" rtl="0" algn="l">
              <a:lnSpc>
                <a:spcPct val="90000"/>
              </a:lnSpc>
              <a:spcBef>
                <a:spcPts val="500"/>
              </a:spcBef>
              <a:spcAft>
                <a:spcPts val="0"/>
              </a:spcAft>
              <a:buClr>
                <a:srgbClr val="58595B"/>
              </a:buClr>
              <a:buSzPts val="1400"/>
              <a:buChar char="▪"/>
              <a:defRPr/>
            </a:lvl3pPr>
            <a:lvl4pPr indent="-317500" lvl="3" marL="1828800" rtl="0" algn="l">
              <a:lnSpc>
                <a:spcPct val="90000"/>
              </a:lnSpc>
              <a:spcBef>
                <a:spcPts val="500"/>
              </a:spcBef>
              <a:spcAft>
                <a:spcPts val="0"/>
              </a:spcAft>
              <a:buClr>
                <a:srgbClr val="58595B"/>
              </a:buClr>
              <a:buSzPts val="1400"/>
              <a:buChar char="▪"/>
              <a:defRPr/>
            </a:lvl4pPr>
            <a:lvl5pPr indent="-317500" lvl="4" marL="2286000" rtl="0" algn="l">
              <a:lnSpc>
                <a:spcPct val="90000"/>
              </a:lnSpc>
              <a:spcBef>
                <a:spcPts val="500"/>
              </a:spcBef>
              <a:spcAft>
                <a:spcPts val="0"/>
              </a:spcAft>
              <a:buClr>
                <a:srgbClr val="58595B"/>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8" name="Google Shape;78;p18"/>
          <p:cNvSpPr txBox="1"/>
          <p:nvPr>
            <p:ph idx="12" type="sldNum"/>
          </p:nvPr>
        </p:nvSpPr>
        <p:spPr>
          <a:xfrm>
            <a:off x="8475260" y="4901474"/>
            <a:ext cx="599700" cy="273900"/>
          </a:xfrm>
          <a:prstGeom prst="rect">
            <a:avLst/>
          </a:prstGeom>
          <a:noFill/>
          <a:ln>
            <a:noFill/>
          </a:ln>
        </p:spPr>
        <p:txBody>
          <a:bodyPr anchorCtr="0" anchor="t" bIns="34275" lIns="68575" spcFirstLastPara="1" rIns="68575" wrap="square" tIns="34275">
            <a:noAutofit/>
          </a:bodyPr>
          <a:lstStyle>
            <a:lvl1pPr indent="0" lvl="0"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1pPr>
            <a:lvl2pPr indent="0" lvl="1"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2pPr>
            <a:lvl3pPr indent="0" lvl="2"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3pPr>
            <a:lvl4pPr indent="0" lvl="3"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4pPr>
            <a:lvl5pPr indent="0" lvl="4"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5pPr>
            <a:lvl6pPr indent="0" lvl="5"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6pPr>
            <a:lvl7pPr indent="0" lvl="6"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7pPr>
            <a:lvl8pPr indent="0" lvl="7"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8pPr>
            <a:lvl9pPr indent="0" lvl="8"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79" name="Shape 79"/>
        <p:cNvGrpSpPr/>
        <p:nvPr/>
      </p:nvGrpSpPr>
      <p:grpSpPr>
        <a:xfrm>
          <a:off x="0" y="0"/>
          <a:ext cx="0" cy="0"/>
          <a:chOff x="0" y="0"/>
          <a:chExt cx="0" cy="0"/>
        </a:xfrm>
      </p:grpSpPr>
      <p:sp>
        <p:nvSpPr>
          <p:cNvPr id="80" name="Google Shape;80;p19"/>
          <p:cNvSpPr txBox="1"/>
          <p:nvPr>
            <p:ph type="title"/>
          </p:nvPr>
        </p:nvSpPr>
        <p:spPr>
          <a:xfrm rot="5400000">
            <a:off x="5492925" y="1810444"/>
            <a:ext cx="4359000" cy="1285800"/>
          </a:xfrm>
          <a:prstGeom prst="rect">
            <a:avLst/>
          </a:prstGeom>
          <a:noFill/>
          <a:ln>
            <a:noFill/>
          </a:ln>
        </p:spPr>
        <p:txBody>
          <a:bodyPr anchorCtr="0" anchor="b" bIns="34275" lIns="0" spcFirstLastPara="1" rIns="0" wrap="square" tIns="34275">
            <a:noAutofit/>
          </a:bodyPr>
          <a:lstStyle>
            <a:lvl1pPr lvl="0" rtl="0" algn="l">
              <a:lnSpc>
                <a:spcPct val="90000"/>
              </a:lnSpc>
              <a:spcBef>
                <a:spcPts val="0"/>
              </a:spcBef>
              <a:spcAft>
                <a:spcPts val="0"/>
              </a:spcAft>
              <a:buClr>
                <a:srgbClr val="B7202E"/>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81" name="Google Shape;81;p19"/>
          <p:cNvSpPr txBox="1"/>
          <p:nvPr>
            <p:ph idx="1" type="body"/>
          </p:nvPr>
        </p:nvSpPr>
        <p:spPr>
          <a:xfrm rot="5400000">
            <a:off x="1686297" y="-583706"/>
            <a:ext cx="4359000" cy="6074100"/>
          </a:xfrm>
          <a:prstGeom prst="rect">
            <a:avLst/>
          </a:prstGeom>
          <a:noFill/>
          <a:ln>
            <a:noFill/>
          </a:ln>
        </p:spPr>
        <p:txBody>
          <a:bodyPr anchorCtr="0" anchor="t" bIns="34275" lIns="0" spcFirstLastPara="1" rIns="0" wrap="square" tIns="34275">
            <a:noAutofit/>
          </a:bodyPr>
          <a:lstStyle>
            <a:lvl1pPr indent="-317500" lvl="0" marL="457200" rtl="0" algn="l">
              <a:lnSpc>
                <a:spcPct val="90000"/>
              </a:lnSpc>
              <a:spcBef>
                <a:spcPts val="1400"/>
              </a:spcBef>
              <a:spcAft>
                <a:spcPts val="0"/>
              </a:spcAft>
              <a:buClr>
                <a:srgbClr val="58595B"/>
              </a:buClr>
              <a:buSzPts val="1400"/>
              <a:buChar char="▪"/>
              <a:defRPr/>
            </a:lvl1pPr>
            <a:lvl2pPr indent="-317500" lvl="1" marL="914400" rtl="0" algn="l">
              <a:lnSpc>
                <a:spcPct val="90000"/>
              </a:lnSpc>
              <a:spcBef>
                <a:spcPts val="500"/>
              </a:spcBef>
              <a:spcAft>
                <a:spcPts val="0"/>
              </a:spcAft>
              <a:buClr>
                <a:srgbClr val="58595B"/>
              </a:buClr>
              <a:buSzPts val="1400"/>
              <a:buChar char="▪"/>
              <a:defRPr/>
            </a:lvl2pPr>
            <a:lvl3pPr indent="-317500" lvl="2" marL="1371600" rtl="0" algn="l">
              <a:lnSpc>
                <a:spcPct val="90000"/>
              </a:lnSpc>
              <a:spcBef>
                <a:spcPts val="500"/>
              </a:spcBef>
              <a:spcAft>
                <a:spcPts val="0"/>
              </a:spcAft>
              <a:buClr>
                <a:srgbClr val="58595B"/>
              </a:buClr>
              <a:buSzPts val="1400"/>
              <a:buChar char="▪"/>
              <a:defRPr/>
            </a:lvl3pPr>
            <a:lvl4pPr indent="-317500" lvl="3" marL="1828800" rtl="0" algn="l">
              <a:lnSpc>
                <a:spcPct val="90000"/>
              </a:lnSpc>
              <a:spcBef>
                <a:spcPts val="500"/>
              </a:spcBef>
              <a:spcAft>
                <a:spcPts val="0"/>
              </a:spcAft>
              <a:buClr>
                <a:srgbClr val="58595B"/>
              </a:buClr>
              <a:buSzPts val="1400"/>
              <a:buChar char="▪"/>
              <a:defRPr/>
            </a:lvl4pPr>
            <a:lvl5pPr indent="-317500" lvl="4" marL="2286000" rtl="0" algn="l">
              <a:lnSpc>
                <a:spcPct val="90000"/>
              </a:lnSpc>
              <a:spcBef>
                <a:spcPts val="500"/>
              </a:spcBef>
              <a:spcAft>
                <a:spcPts val="0"/>
              </a:spcAft>
              <a:buClr>
                <a:srgbClr val="58595B"/>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82" name="Google Shape;82;p19"/>
          <p:cNvSpPr txBox="1"/>
          <p:nvPr>
            <p:ph idx="12" type="sldNum"/>
          </p:nvPr>
        </p:nvSpPr>
        <p:spPr>
          <a:xfrm>
            <a:off x="8475260" y="4901474"/>
            <a:ext cx="599700" cy="273900"/>
          </a:xfrm>
          <a:prstGeom prst="rect">
            <a:avLst/>
          </a:prstGeom>
          <a:noFill/>
          <a:ln>
            <a:noFill/>
          </a:ln>
        </p:spPr>
        <p:txBody>
          <a:bodyPr anchorCtr="0" anchor="t" bIns="34275" lIns="68575" spcFirstLastPara="1" rIns="68575" wrap="square" tIns="34275">
            <a:noAutofit/>
          </a:bodyPr>
          <a:lstStyle>
            <a:lvl1pPr indent="0" lvl="0"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1pPr>
            <a:lvl2pPr indent="0" lvl="1"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2pPr>
            <a:lvl3pPr indent="0" lvl="2"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3pPr>
            <a:lvl4pPr indent="0" lvl="3"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4pPr>
            <a:lvl5pPr indent="0" lvl="4"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5pPr>
            <a:lvl6pPr indent="0" lvl="5"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6pPr>
            <a:lvl7pPr indent="0" lvl="6"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7pPr>
            <a:lvl8pPr indent="0" lvl="7"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8pPr>
            <a:lvl9pPr indent="0" lvl="8" marL="0" marR="0" rtl="0" algn="l">
              <a:lnSpc>
                <a:spcPct val="100000"/>
              </a:lnSpc>
              <a:spcBef>
                <a:spcPts val="0"/>
              </a:spcBef>
              <a:spcAft>
                <a:spcPts val="0"/>
              </a:spcAft>
              <a:buClr>
                <a:srgbClr val="58595B"/>
              </a:buClr>
              <a:buSzPts val="1200"/>
              <a:buFont typeface="Fira Sans"/>
              <a:buNone/>
              <a:defRPr b="0" i="0" sz="1200" u="none" cap="none" strike="noStrike">
                <a:solidFill>
                  <a:srgbClr val="58595B"/>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4325" y="57150"/>
            <a:ext cx="7240200" cy="822900"/>
          </a:xfrm>
          <a:prstGeom prst="rect">
            <a:avLst/>
          </a:prstGeom>
          <a:noFill/>
          <a:ln>
            <a:noFill/>
          </a:ln>
        </p:spPr>
        <p:txBody>
          <a:bodyPr anchorCtr="0" anchor="b" bIns="34275" lIns="0" spcFirstLastPara="1" rIns="0" wrap="square" tIns="34275">
            <a:noAutofit/>
          </a:bodyPr>
          <a:lstStyle>
            <a:lvl1pPr lvl="0" marR="0" rtl="0" algn="l">
              <a:lnSpc>
                <a:spcPct val="90000"/>
              </a:lnSpc>
              <a:spcBef>
                <a:spcPts val="0"/>
              </a:spcBef>
              <a:spcAft>
                <a:spcPts val="0"/>
              </a:spcAft>
              <a:buClr>
                <a:srgbClr val="B7202E"/>
              </a:buClr>
              <a:buSzPts val="2100"/>
              <a:buFont typeface="Marcellus"/>
              <a:buNone/>
              <a:defRPr b="0" i="0" sz="2100" u="none" cap="none" strike="noStrike">
                <a:solidFill>
                  <a:srgbClr val="B7202E"/>
                </a:solidFill>
                <a:latin typeface="Marcellus"/>
                <a:ea typeface="Marcellus"/>
                <a:cs typeface="Marcellus"/>
                <a:sym typeface="Marcellus"/>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 name="Google Shape;52;p13"/>
          <p:cNvSpPr txBox="1"/>
          <p:nvPr>
            <p:ph idx="1" type="body"/>
          </p:nvPr>
        </p:nvSpPr>
        <p:spPr>
          <a:xfrm>
            <a:off x="333375" y="1009650"/>
            <a:ext cx="8458200" cy="3591000"/>
          </a:xfrm>
          <a:prstGeom prst="rect">
            <a:avLst/>
          </a:prstGeom>
          <a:noFill/>
          <a:ln>
            <a:noFill/>
          </a:ln>
        </p:spPr>
        <p:txBody>
          <a:bodyPr anchorCtr="0" anchor="t" bIns="34275" lIns="0" spcFirstLastPara="1" rIns="0" wrap="square" tIns="34275">
            <a:noAutofit/>
          </a:bodyPr>
          <a:lstStyle>
            <a:lvl1pPr indent="-323850" lvl="0" marL="457200" marR="0" rtl="0" algn="l">
              <a:lnSpc>
                <a:spcPct val="90000"/>
              </a:lnSpc>
              <a:spcBef>
                <a:spcPts val="1400"/>
              </a:spcBef>
              <a:spcAft>
                <a:spcPts val="0"/>
              </a:spcAft>
              <a:buClr>
                <a:srgbClr val="58595B"/>
              </a:buClr>
              <a:buSzPts val="1500"/>
              <a:buFont typeface="Noto Sans Symbols"/>
              <a:buChar char="▪"/>
              <a:defRPr b="0" i="0" sz="1500" u="none" cap="none" strike="noStrike">
                <a:solidFill>
                  <a:srgbClr val="58595B"/>
                </a:solidFill>
                <a:latin typeface="Fira Sans"/>
                <a:ea typeface="Fira Sans"/>
                <a:cs typeface="Fira Sans"/>
                <a:sym typeface="Fira Sans"/>
              </a:defRPr>
            </a:lvl1pPr>
            <a:lvl2pPr indent="-304800" lvl="1" marL="914400" marR="0" rtl="0" algn="l">
              <a:lnSpc>
                <a:spcPct val="90000"/>
              </a:lnSpc>
              <a:spcBef>
                <a:spcPts val="500"/>
              </a:spcBef>
              <a:spcAft>
                <a:spcPts val="0"/>
              </a:spcAft>
              <a:buClr>
                <a:srgbClr val="58595B"/>
              </a:buClr>
              <a:buSzPts val="1200"/>
              <a:buFont typeface="Noto Sans Symbols"/>
              <a:buChar char="▪"/>
              <a:defRPr b="0" i="0" sz="1200" u="none" cap="none" strike="noStrike">
                <a:solidFill>
                  <a:srgbClr val="58595B"/>
                </a:solidFill>
                <a:latin typeface="Fira Sans"/>
                <a:ea typeface="Fira Sans"/>
                <a:cs typeface="Fira Sans"/>
                <a:sym typeface="Fira Sans"/>
              </a:defRPr>
            </a:lvl2pPr>
            <a:lvl3pPr indent="-298450" lvl="2" marL="1371600" marR="0" rtl="0" algn="l">
              <a:lnSpc>
                <a:spcPct val="90000"/>
              </a:lnSpc>
              <a:spcBef>
                <a:spcPts val="500"/>
              </a:spcBef>
              <a:spcAft>
                <a:spcPts val="0"/>
              </a:spcAft>
              <a:buClr>
                <a:srgbClr val="58595B"/>
              </a:buClr>
              <a:buSzPts val="1100"/>
              <a:buFont typeface="Noto Sans Symbols"/>
              <a:buChar char="▪"/>
              <a:defRPr b="0" i="0" sz="1100" u="none" cap="none" strike="noStrike">
                <a:solidFill>
                  <a:srgbClr val="58595B"/>
                </a:solidFill>
                <a:latin typeface="Fira Sans"/>
                <a:ea typeface="Fira Sans"/>
                <a:cs typeface="Fira Sans"/>
                <a:sym typeface="Fira Sans"/>
              </a:defRPr>
            </a:lvl3pPr>
            <a:lvl4pPr indent="-298450" lvl="3" marL="1828800" marR="0" rtl="0" algn="l">
              <a:lnSpc>
                <a:spcPct val="90000"/>
              </a:lnSpc>
              <a:spcBef>
                <a:spcPts val="500"/>
              </a:spcBef>
              <a:spcAft>
                <a:spcPts val="0"/>
              </a:spcAft>
              <a:buClr>
                <a:srgbClr val="58595B"/>
              </a:buClr>
              <a:buSzPts val="1100"/>
              <a:buFont typeface="Noto Sans Symbols"/>
              <a:buChar char="▪"/>
              <a:defRPr b="0" i="0" sz="1100" u="none" cap="none" strike="noStrike">
                <a:solidFill>
                  <a:srgbClr val="58595B"/>
                </a:solidFill>
                <a:latin typeface="Fira Sans"/>
                <a:ea typeface="Fira Sans"/>
                <a:cs typeface="Fira Sans"/>
                <a:sym typeface="Fira Sans"/>
              </a:defRPr>
            </a:lvl4pPr>
            <a:lvl5pPr indent="-298450" lvl="4" marL="2286000" marR="0" rtl="0" algn="l">
              <a:lnSpc>
                <a:spcPct val="90000"/>
              </a:lnSpc>
              <a:spcBef>
                <a:spcPts val="500"/>
              </a:spcBef>
              <a:spcAft>
                <a:spcPts val="0"/>
              </a:spcAft>
              <a:buClr>
                <a:srgbClr val="58595B"/>
              </a:buClr>
              <a:buSzPts val="1100"/>
              <a:buFont typeface="Noto Sans Symbols"/>
              <a:buChar char="▪"/>
              <a:defRPr b="0" i="0" sz="1100" u="none" cap="none" strike="noStrike">
                <a:solidFill>
                  <a:srgbClr val="58595B"/>
                </a:solidFill>
                <a:latin typeface="Fira Sans"/>
                <a:ea typeface="Fira Sans"/>
                <a:cs typeface="Fira Sans"/>
                <a:sym typeface="Fira Sans"/>
              </a:defRPr>
            </a:lvl5pPr>
            <a:lvl6pPr indent="-298450" lvl="5" marL="2743200" marR="0" rtl="0" algn="l">
              <a:lnSpc>
                <a:spcPct val="90000"/>
              </a:lnSpc>
              <a:spcBef>
                <a:spcPts val="400"/>
              </a:spcBef>
              <a:spcAft>
                <a:spcPts val="0"/>
              </a:spcAft>
              <a:buClr>
                <a:schemeClr val="dk1"/>
              </a:buClr>
              <a:buSzPts val="1100"/>
              <a:buFont typeface="Noto Sans Symbols"/>
              <a:buChar char="▪"/>
              <a:defRPr b="0" i="0" sz="1100" u="none" cap="none" strike="noStrike">
                <a:solidFill>
                  <a:schemeClr val="dk1"/>
                </a:solidFill>
                <a:latin typeface="Arial"/>
                <a:ea typeface="Arial"/>
                <a:cs typeface="Arial"/>
                <a:sym typeface="Arial"/>
              </a:defRPr>
            </a:lvl6pPr>
            <a:lvl7pPr indent="-298450" lvl="6" marL="3200400" marR="0" rtl="0" algn="l">
              <a:lnSpc>
                <a:spcPct val="90000"/>
              </a:lnSpc>
              <a:spcBef>
                <a:spcPts val="400"/>
              </a:spcBef>
              <a:spcAft>
                <a:spcPts val="0"/>
              </a:spcAft>
              <a:buClr>
                <a:schemeClr val="dk1"/>
              </a:buClr>
              <a:buSzPts val="1100"/>
              <a:buFont typeface="Noto Sans Symbols"/>
              <a:buChar char="▪"/>
              <a:defRPr b="0" i="0" sz="1100" u="none" cap="none" strike="noStrike">
                <a:solidFill>
                  <a:schemeClr val="dk1"/>
                </a:solidFill>
                <a:latin typeface="Arial"/>
                <a:ea typeface="Arial"/>
                <a:cs typeface="Arial"/>
                <a:sym typeface="Arial"/>
              </a:defRPr>
            </a:lvl7pPr>
            <a:lvl8pPr indent="-298450" lvl="7" marL="3657600" marR="0" rtl="0" algn="l">
              <a:lnSpc>
                <a:spcPct val="90000"/>
              </a:lnSpc>
              <a:spcBef>
                <a:spcPts val="400"/>
              </a:spcBef>
              <a:spcAft>
                <a:spcPts val="0"/>
              </a:spcAft>
              <a:buClr>
                <a:schemeClr val="dk1"/>
              </a:buClr>
              <a:buSzPts val="1100"/>
              <a:buFont typeface="Noto Sans Symbols"/>
              <a:buChar char="▪"/>
              <a:defRPr b="0" i="0" sz="1100" u="none" cap="none" strike="noStrike">
                <a:solidFill>
                  <a:schemeClr val="dk1"/>
                </a:solidFill>
                <a:latin typeface="Arial"/>
                <a:ea typeface="Arial"/>
                <a:cs typeface="Arial"/>
                <a:sym typeface="Arial"/>
              </a:defRPr>
            </a:lvl8pPr>
            <a:lvl9pPr indent="-298450" lvl="8" marL="4114800" marR="0" rtl="0" algn="l">
              <a:lnSpc>
                <a:spcPct val="90000"/>
              </a:lnSpc>
              <a:spcBef>
                <a:spcPts val="400"/>
              </a:spcBef>
              <a:spcAft>
                <a:spcPts val="0"/>
              </a:spcAft>
              <a:buClr>
                <a:schemeClr val="dk1"/>
              </a:buClr>
              <a:buSzPts val="1100"/>
              <a:buFont typeface="Noto Sans Symbols"/>
              <a:buChar char="▪"/>
              <a:defRPr b="0" i="0" sz="1100" u="none" cap="none" strike="noStrike">
                <a:solidFill>
                  <a:schemeClr val="dk1"/>
                </a:solidFill>
                <a:latin typeface="Arial"/>
                <a:ea typeface="Arial"/>
                <a:cs typeface="Arial"/>
                <a:sym typeface="Arial"/>
              </a:defRPr>
            </a:lvl9pPr>
          </a:lstStyle>
          <a:p/>
        </p:txBody>
      </p:sp>
      <p:pic>
        <p:nvPicPr>
          <p:cNvPr id="53" name="Google Shape;53;p13"/>
          <p:cNvPicPr preferRelativeResize="0"/>
          <p:nvPr/>
        </p:nvPicPr>
        <p:blipFill rotWithShape="1">
          <a:blip r:embed="rId1">
            <a:alphaModFix/>
          </a:blip>
          <a:srcRect b="0" l="0" r="0" t="0"/>
          <a:stretch/>
        </p:blipFill>
        <p:spPr>
          <a:xfrm>
            <a:off x="7739035" y="65950"/>
            <a:ext cx="1300264" cy="408655"/>
          </a:xfrm>
          <a:prstGeom prst="rect">
            <a:avLst/>
          </a:prstGeom>
          <a:noFill/>
          <a:ln>
            <a:noFill/>
          </a:ln>
        </p:spPr>
      </p:pic>
      <p:sp>
        <p:nvSpPr>
          <p:cNvPr id="54" name="Google Shape;54;p13"/>
          <p:cNvSpPr/>
          <p:nvPr/>
        </p:nvSpPr>
        <p:spPr>
          <a:xfrm>
            <a:off x="0" y="-10236"/>
            <a:ext cx="207000" cy="5143500"/>
          </a:xfrm>
          <a:prstGeom prst="rect">
            <a:avLst/>
          </a:prstGeom>
          <a:solidFill>
            <a:srgbClr val="B7202E"/>
          </a:solidFill>
          <a:ln cap="flat" cmpd="thickThin" w="48000">
            <a:solidFill>
              <a:srgbClr val="B7202E"/>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55" name="Google Shape;55;p13"/>
          <p:cNvSpPr/>
          <p:nvPr/>
        </p:nvSpPr>
        <p:spPr>
          <a:xfrm>
            <a:off x="0" y="4966137"/>
            <a:ext cx="3304800" cy="177300"/>
          </a:xfrm>
          <a:prstGeom prst="rect">
            <a:avLst/>
          </a:prstGeom>
          <a:solidFill>
            <a:srgbClr val="B7202E"/>
          </a:solidFill>
          <a:ln cap="flat" cmpd="thickThin" w="48000">
            <a:solidFill>
              <a:srgbClr val="B7202E"/>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56" name="Google Shape;56;p13"/>
          <p:cNvSpPr/>
          <p:nvPr/>
        </p:nvSpPr>
        <p:spPr>
          <a:xfrm>
            <a:off x="3304846" y="4966137"/>
            <a:ext cx="1690200" cy="177300"/>
          </a:xfrm>
          <a:prstGeom prst="rect">
            <a:avLst/>
          </a:prstGeom>
          <a:solidFill>
            <a:srgbClr val="ED1C24"/>
          </a:solidFill>
          <a:ln cap="flat" cmpd="thickThin" w="48000">
            <a:solidFill>
              <a:srgbClr val="ED1C2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57" name="Google Shape;57;p13"/>
          <p:cNvSpPr txBox="1"/>
          <p:nvPr>
            <p:ph idx="12" type="sldNum"/>
          </p:nvPr>
        </p:nvSpPr>
        <p:spPr>
          <a:xfrm>
            <a:off x="8475260" y="4901474"/>
            <a:ext cx="599700" cy="273900"/>
          </a:xfrm>
          <a:prstGeom prst="rect">
            <a:avLst/>
          </a:prstGeom>
          <a:noFill/>
          <a:ln>
            <a:noFill/>
          </a:ln>
        </p:spPr>
        <p:txBody>
          <a:bodyPr anchorCtr="0" anchor="t" bIns="34275" lIns="68575" spcFirstLastPara="1" rIns="68575" wrap="square" tIns="34275">
            <a:noAutofit/>
          </a:bodyPr>
          <a:lstStyle>
            <a:lvl1pPr indent="0" lvl="0"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1pPr>
            <a:lvl2pPr indent="0" lvl="1"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2pPr>
            <a:lvl3pPr indent="0" lvl="2"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3pPr>
            <a:lvl4pPr indent="0" lvl="3"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4pPr>
            <a:lvl5pPr indent="0" lvl="4"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5pPr>
            <a:lvl6pPr indent="0" lvl="5"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6pPr>
            <a:lvl7pPr indent="0" lvl="6"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7pPr>
            <a:lvl8pPr indent="0" lvl="7"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8pPr>
            <a:lvl9pPr indent="0" lvl="8" marL="0" marR="0" rtl="0" algn="l">
              <a:lnSpc>
                <a:spcPct val="100000"/>
              </a:lnSpc>
              <a:spcBef>
                <a:spcPts val="0"/>
              </a:spcBef>
              <a:spcAft>
                <a:spcPts val="0"/>
              </a:spcAft>
              <a:buClr>
                <a:srgbClr val="000000"/>
              </a:buClr>
              <a:buSzPts val="1200"/>
              <a:buFont typeface="Arial"/>
              <a:buNone/>
              <a:defRPr b="0" i="0" sz="1200" u="none" cap="none" strike="noStrike">
                <a:solidFill>
                  <a:srgbClr val="58595B"/>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522">
          <p15:clr>
            <a:srgbClr val="F26B43"/>
          </p15:clr>
        </p15:guide>
        <p15:guide id="2" pos="5238">
          <p15:clr>
            <a:srgbClr val="F26B43"/>
          </p15:clr>
        </p15:guide>
        <p15:guide id="3" orient="horz" pos="756">
          <p15:clr>
            <a:srgbClr val="F26B43"/>
          </p15:clr>
        </p15:guide>
        <p15:guide id="4" orient="horz" pos="291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20"/>
          <p:cNvSpPr txBox="1"/>
          <p:nvPr>
            <p:ph type="title"/>
          </p:nvPr>
        </p:nvSpPr>
        <p:spPr>
          <a:xfrm>
            <a:off x="314325" y="57150"/>
            <a:ext cx="7240200" cy="822900"/>
          </a:xfrm>
          <a:prstGeom prst="rect">
            <a:avLst/>
          </a:prstGeom>
        </p:spPr>
        <p:txBody>
          <a:bodyPr anchorCtr="0" anchor="b" bIns="34275" lIns="0" spcFirstLastPara="1" rIns="0" wrap="square" tIns="34275">
            <a:noAutofit/>
          </a:bodyPr>
          <a:lstStyle/>
          <a:p>
            <a:pPr indent="0" lvl="0" marL="0" rtl="0" algn="l">
              <a:spcBef>
                <a:spcPts val="0"/>
              </a:spcBef>
              <a:spcAft>
                <a:spcPts val="0"/>
              </a:spcAft>
              <a:buNone/>
            </a:pPr>
            <a:r>
              <a:rPr sz="4000" b="1">
                <a:solidFill>
                  <a:srgbClr val="B7202E"/>
                </a:solidFill>
              </a:rPr>
              <a:t>CostScale</a:t>
            </a:r>
            <a:endParaRPr/>
          </a:p>
        </p:txBody>
      </p:sp>
      <p:pic>
        <p:nvPicPr>
          <p:cNvPr id="88" name="Google Shape;88;p20"/>
          <p:cNvPicPr preferRelativeResize="0"/>
          <p:nvPr/>
        </p:nvPicPr>
        <p:blipFill rotWithShape="1">
          <a:blip r:embed="rId3">
            <a:alphaModFix/>
          </a:blip>
          <a:srcRect b="11285" l="2200" r="0" t="0"/>
          <a:stretch/>
        </p:blipFill>
        <p:spPr>
          <a:xfrm>
            <a:off x="7517975" y="0"/>
            <a:ext cx="1626025" cy="701375"/>
          </a:xfrm>
          <a:prstGeom prst="rect">
            <a:avLst/>
          </a:prstGeom>
          <a:noFill/>
          <a:ln>
            <a:noFill/>
          </a:ln>
        </p:spPr>
      </p:pic>
      <p:pic>
        <p:nvPicPr>
          <p:cNvPr id="89" name="Google Shape;89;p20"/>
          <p:cNvPicPr preferRelativeResize="0"/>
          <p:nvPr/>
        </p:nvPicPr>
        <p:blipFill rotWithShape="1">
          <a:blip r:embed="rId3">
            <a:alphaModFix/>
          </a:blip>
          <a:srcRect b="11285" l="2200" r="0" t="0"/>
          <a:stretch/>
        </p:blipFill>
        <p:spPr>
          <a:xfrm>
            <a:off x="7517975" y="0"/>
            <a:ext cx="1626025" cy="701375"/>
          </a:xfrm>
          <a:prstGeom prst="rect">
            <a:avLst/>
          </a:prstGeom>
          <a:noFill/>
          <a:ln>
            <a:noFill/>
          </a:ln>
        </p:spPr>
      </p:pic>
      <p:pic>
        <p:nvPicPr>
          <p:cNvPr id="90" name="Google Shape;90;p20"/>
          <p:cNvPicPr preferRelativeResize="0"/>
          <p:nvPr/>
        </p:nvPicPr>
        <p:blipFill rotWithShape="1">
          <a:blip r:embed="rId3">
            <a:alphaModFix/>
          </a:blip>
          <a:srcRect b="11285" l="2200" r="0" t="0"/>
          <a:stretch/>
        </p:blipFill>
        <p:spPr>
          <a:xfrm>
            <a:off x="7436975" y="4371325"/>
            <a:ext cx="1626025" cy="701375"/>
          </a:xfrm>
          <a:prstGeom prst="rect">
            <a:avLst/>
          </a:prstGeom>
          <a:noFill/>
          <a:ln>
            <a:noFill/>
          </a:ln>
        </p:spPr>
      </p:pic>
      <p:sp>
        <p:nvSpPr>
          <p:cNvPr id="91" name="TextBox 90"/>
          <p:cNvSpPr txBox="1"/>
          <p:nvPr/>
        </p:nvSpPr>
        <p:spPr>
          <a:xfrm>
            <a:off x="329184" y="960120"/>
            <a:ext cx="6766560" cy="822960"/>
          </a:xfrm>
          <a:prstGeom prst="rect">
            <a:avLst/>
          </a:prstGeom>
          <a:noFill/>
        </p:spPr>
        <p:txBody>
          <a:bodyPr wrap="square">
            <a:spAutoFit/>
          </a:bodyPr>
          <a:lstStyle/>
          <a:p>
            <a:pPr>
              <a:spcAft>
                <a:spcPts val="400"/>
              </a:spcAft>
            </a:pPr>
            <a:r>
              <a:rPr sz="2000" b="0">
                <a:solidFill>
                  <a:srgbClr val="58595B"/>
                </a:solidFill>
              </a:rPr>
              <a:t>ML-driven hybrid container and serverless resource management on AWS</a:t>
            </a:r>
          </a:p>
        </p:txBody>
      </p:sp>
      <p:sp>
        <p:nvSpPr>
          <p:cNvPr id="92" name="TextBox 91"/>
          <p:cNvSpPr txBox="1"/>
          <p:nvPr/>
        </p:nvSpPr>
        <p:spPr>
          <a:xfrm>
            <a:off x="329184" y="2011680"/>
            <a:ext cx="6766560" cy="1097280"/>
          </a:xfrm>
          <a:prstGeom prst="rect">
            <a:avLst/>
          </a:prstGeom>
          <a:noFill/>
        </p:spPr>
        <p:txBody>
          <a:bodyPr wrap="square">
            <a:spAutoFit/>
          </a:bodyPr>
          <a:lstStyle/>
          <a:p>
            <a:pPr>
              <a:spcAft>
                <a:spcPts val="400"/>
              </a:spcAft>
            </a:pPr>
            <a:r>
              <a:rPr sz="1600" b="1">
                <a:solidFill>
                  <a:srgbClr val="212121"/>
                </a:solidFill>
              </a:rPr>
              <a:t>Anamay Narkar (16010123040)</a:t>
            </a:r>
          </a:p>
          <a:p>
            <a:pPr>
              <a:spcAft>
                <a:spcPts val="400"/>
              </a:spcAft>
            </a:pPr>
            <a:r>
              <a:rPr sz="1600" b="1">
                <a:solidFill>
                  <a:srgbClr val="212121"/>
                </a:solidFill>
              </a:rPr>
              <a:t>Ananya Dhiman (16010123041)</a:t>
            </a:r>
          </a:p>
          <a:p>
            <a:pPr>
              <a:spcAft>
                <a:spcPts val="400"/>
              </a:spcAft>
            </a:pPr>
            <a:r>
              <a:rPr sz="1600" b="1">
                <a:solidFill>
                  <a:srgbClr val="212121"/>
                </a:solidFill>
              </a:rPr>
              <a:t>Anoushka Nelson (16010123049)</a:t>
            </a:r>
          </a:p>
        </p:txBody>
      </p:sp>
      <p:sp>
        <p:nvSpPr>
          <p:cNvPr id="93" name="TextBox 92"/>
          <p:cNvSpPr txBox="1"/>
          <p:nvPr/>
        </p:nvSpPr>
        <p:spPr>
          <a:xfrm>
            <a:off x="329184" y="3200400"/>
            <a:ext cx="6766560" cy="914400"/>
          </a:xfrm>
          <a:prstGeom prst="rect">
            <a:avLst/>
          </a:prstGeom>
          <a:noFill/>
        </p:spPr>
        <p:txBody>
          <a:bodyPr wrap="square">
            <a:spAutoFit/>
          </a:bodyPr>
          <a:lstStyle/>
          <a:p>
            <a:pPr>
              <a:spcAft>
                <a:spcPts val="400"/>
              </a:spcAft>
            </a:pPr>
            <a:r>
              <a:rPr sz="1200" b="0">
                <a:solidFill>
                  <a:srgbClr val="58595B"/>
                </a:solidFill>
              </a:rPr>
              <a:t>B.Tech Computer Engineering, K.J. Somaiya School of Engineering, Mumbai</a:t>
            </a:r>
          </a:p>
          <a:p>
            <a:pPr>
              <a:spcAft>
                <a:spcPts val="400"/>
              </a:spcAft>
            </a:pPr>
            <a:r>
              <a:rPr sz="1200" b="0">
                <a:solidFill>
                  <a:srgbClr val="58595B"/>
                </a:solidFill>
              </a:rPr>
              <a:t>[TO FILL: course name]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The problem</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Predict workload, then allocate resources</a:t>
            </a:r>
          </a:p>
        </p:txBody>
      </p:sp>
      <p:sp>
        <p:nvSpPr>
          <p:cNvPr id="4" name="TextBox 3"/>
          <p:cNvSpPr txBox="1"/>
          <p:nvPr/>
        </p:nvSpPr>
        <p:spPr>
          <a:xfrm>
            <a:off x="411480" y="1371600"/>
            <a:ext cx="4937760" cy="3291840"/>
          </a:xfrm>
          <a:prstGeom prst="rect">
            <a:avLst/>
          </a:prstGeom>
          <a:noFill/>
        </p:spPr>
        <p:txBody>
          <a:bodyPr wrap="square">
            <a:spAutoFit/>
          </a:bodyPr>
          <a:lstStyle/>
          <a:p>
            <a:pPr>
              <a:spcAft>
                <a:spcPts val="600"/>
              </a:spcAft>
            </a:pPr>
            <a:r>
              <a:rPr sz="1700">
                <a:solidFill>
                  <a:srgbClr val="212121"/>
                </a:solidFill>
              </a:rPr>
              <a:t>• Containers / VMs: cheap per unit, but slow to provision</a:t>
            </a:r>
          </a:p>
          <a:p>
            <a:pPr>
              <a:spcAft>
                <a:spcPts val="600"/>
              </a:spcAft>
            </a:pPr>
            <a:r>
              <a:rPr sz="1700">
                <a:solidFill>
                  <a:srgbClr val="212121"/>
                </a:solidFill>
              </a:rPr>
              <a:t>• Lambda: instant, pay per use, several times costlier per unit</a:t>
            </a:r>
          </a:p>
          <a:p>
            <a:pPr>
              <a:spcAft>
                <a:spcPts val="600"/>
              </a:spcAft>
            </a:pPr>
            <a:r>
              <a:rPr sz="1700">
                <a:solidFill>
                  <a:srgbClr val="212121"/>
                </a:solidFill>
              </a:rPr>
              <a:t>• Load varies; most functions are idle, a few are very busy</a:t>
            </a:r>
          </a:p>
          <a:p>
            <a:pPr>
              <a:spcAft>
                <a:spcPts val="600"/>
              </a:spcAft>
            </a:pPr>
            <a:r>
              <a:rPr sz="1700">
                <a:solidFill>
                  <a:srgbClr val="212121"/>
                </a:solidFill>
              </a:rPr>
              <a:t>• Goal: lowest cost while serving every request in time</a:t>
            </a:r>
          </a:p>
        </p:txBody>
      </p:sp>
      <p:sp>
        <p:nvSpPr>
          <p:cNvPr id="5" name="TextBox 4"/>
          <p:cNvSpPr txBox="1"/>
          <p:nvPr/>
        </p:nvSpPr>
        <p:spPr>
          <a:xfrm>
            <a:off x="5852160" y="1463040"/>
            <a:ext cx="2834640" cy="1097280"/>
          </a:xfrm>
          <a:prstGeom prst="rect">
            <a:avLst/>
          </a:prstGeom>
          <a:noFill/>
        </p:spPr>
        <p:txBody>
          <a:bodyPr wrap="square">
            <a:spAutoFit/>
          </a:bodyPr>
          <a:lstStyle/>
          <a:p>
            <a:r>
              <a:rPr sz="2800" b="1">
                <a:solidFill>
                  <a:srgbClr val="B7202E"/>
                </a:solidFill>
              </a:rPr>
              <a:t>101</a:t>
            </a:r>
          </a:p>
          <a:p>
            <a:r>
              <a:rPr sz="1100">
                <a:solidFill>
                  <a:srgbClr val="58595B"/>
                </a:solidFill>
              </a:rPr>
              <a:t>heavy Azure functions simulated
(&gt;= $50/month on training days)</a:t>
            </a:r>
          </a:p>
        </p:txBody>
      </p:sp>
      <p:sp>
        <p:nvSpPr>
          <p:cNvPr id="6" name="TextBox 5"/>
          <p:cNvSpPr txBox="1"/>
          <p:nvPr/>
        </p:nvSpPr>
        <p:spPr>
          <a:xfrm>
            <a:off x="5852160" y="2926080"/>
            <a:ext cx="2834640" cy="1097280"/>
          </a:xfrm>
          <a:prstGeom prst="rect">
            <a:avLst/>
          </a:prstGeom>
          <a:noFill/>
        </p:spPr>
        <p:txBody>
          <a:bodyPr wrap="square">
            <a:spAutoFit/>
          </a:bodyPr>
          <a:lstStyle/>
          <a:p>
            <a:r>
              <a:rPr sz="2800" b="1">
                <a:solidFill>
                  <a:srgbClr val="F26B43"/>
                </a:solidFill>
              </a:rPr>
              <a:t>28,859</a:t>
            </a:r>
          </a:p>
          <a:p>
            <a:r>
              <a:rPr sz="1100">
                <a:solidFill>
                  <a:srgbClr val="58595B"/>
                </a:solidFill>
              </a:rPr>
              <a:t>functions present on all 14 days
(of 72k in the trace)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Why plain autoscaling is not enough</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Every reactive setting drops load or overpays</a:t>
            </a:r>
          </a:p>
        </p:txBody>
      </p:sp>
      <p:pic>
        <p:nvPicPr>
          <p:cNvPr id="4" name="Picture 3" descr="unserved_vs_cost.png"/>
          <p:cNvPicPr>
            <a:picLocks noChangeAspect="1"/>
          </p:cNvPicPr>
          <p:nvPr/>
        </p:nvPicPr>
        <p:blipFill>
          <a:blip r:embed="rId3"/>
          <a:stretch>
            <a:fillRect/>
          </a:stretch>
        </p:blipFill>
        <p:spPr>
          <a:xfrm>
            <a:off x="365760" y="1325880"/>
            <a:ext cx="5303520" cy="3226947"/>
          </a:xfrm>
          <a:prstGeom prst="rect">
            <a:avLst/>
          </a:prstGeom>
        </p:spPr>
      </p:pic>
      <p:sp>
        <p:nvSpPr>
          <p:cNvPr id="5" name="TextBox 4"/>
          <p:cNvSpPr txBox="1"/>
          <p:nvPr/>
        </p:nvSpPr>
        <p:spPr>
          <a:xfrm>
            <a:off x="5852160" y="1463040"/>
            <a:ext cx="2926080" cy="3108960"/>
          </a:xfrm>
          <a:prstGeom prst="rect">
            <a:avLst/>
          </a:prstGeom>
          <a:noFill/>
        </p:spPr>
        <p:txBody>
          <a:bodyPr wrap="square">
            <a:spAutoFit/>
          </a:bodyPr>
          <a:lstStyle/>
          <a:p>
            <a:pPr>
              <a:spcAft>
                <a:spcPts val="600"/>
              </a:spcAft>
            </a:pPr>
            <a:r>
              <a:rPr sz="1300">
                <a:solidFill>
                  <a:srgbClr val="212121"/>
                </a:solidFill>
              </a:rPr>
              <a:t>• Reactive u=0.7: $37.5k, 9.2% load dropped</a:t>
            </a:r>
          </a:p>
          <a:p>
            <a:pPr>
              <a:spcAft>
                <a:spcPts val="600"/>
              </a:spcAft>
            </a:pPr>
            <a:r>
              <a:rPr sz="1300">
                <a:solidFill>
                  <a:srgbClr val="212121"/>
                </a:solidFill>
              </a:rPr>
              <a:t>• Reactive u=0.3: $87.5k, still 6.8% dropped</a:t>
            </a:r>
          </a:p>
          <a:p>
            <a:pPr>
              <a:spcAft>
                <a:spcPts val="600"/>
              </a:spcAft>
            </a:pPr>
            <a:r>
              <a:rPr sz="1300">
                <a:solidFill>
                  <a:srgbClr val="212121"/>
                </a:solidFill>
              </a:rPr>
              <a:t>• Hybrid-rolling: $32.2k, 0% dropped</a:t>
            </a:r>
          </a:p>
          <a:p>
            <a:pPr>
              <a:spcAft>
                <a:spcPts val="600"/>
              </a:spcAft>
            </a:pPr>
            <a:r>
              <a:rPr sz="1300">
                <a:solidFill>
                  <a:srgbClr val="212121"/>
                </a:solidFill>
              </a:rPr>
              <a:t>• Test days, 101 heavy functions, AWS Mumbai prices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The idea: a base plus overflow</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Newsvendor: base = q*-quantile of forecast load</a:t>
            </a:r>
          </a:p>
        </p:txBody>
      </p:sp>
      <p:sp>
        <p:nvSpPr>
          <p:cNvPr id="4" name="TextBox 3"/>
          <p:cNvSpPr txBox="1"/>
          <p:nvPr/>
        </p:nvSpPr>
        <p:spPr>
          <a:xfrm>
            <a:off x="411480" y="1371600"/>
            <a:ext cx="4023360" cy="3017520"/>
          </a:xfrm>
          <a:prstGeom prst="rect">
            <a:avLst/>
          </a:prstGeom>
          <a:noFill/>
        </p:spPr>
        <p:txBody>
          <a:bodyPr wrap="square">
            <a:spAutoFit/>
          </a:bodyPr>
          <a:lstStyle/>
          <a:p>
            <a:pPr>
              <a:spcAft>
                <a:spcPts val="600"/>
              </a:spcAft>
            </a:pPr>
            <a:r>
              <a:rPr sz="1500">
                <a:solidFill>
                  <a:srgbClr val="212121"/>
                </a:solidFill>
              </a:rPr>
              <a:t>• Base: EC2 Auto Scaling Group (cheap, always on)</a:t>
            </a:r>
          </a:p>
          <a:p>
            <a:pPr>
              <a:spcAft>
                <a:spcPts val="600"/>
              </a:spcAft>
            </a:pPr>
            <a:r>
              <a:rPr sz="1500">
                <a:solidFill>
                  <a:srgbClr val="212121"/>
                </a:solidFill>
              </a:rPr>
              <a:t>• Overflow: AWS Lambda (instant, pay per use)</a:t>
            </a:r>
          </a:p>
          <a:p>
            <a:pPr>
              <a:spcAft>
                <a:spcPts val="600"/>
              </a:spcAft>
            </a:pPr>
            <a:r>
              <a:rPr sz="1500">
                <a:solidFill>
                  <a:srgbClr val="212121"/>
                </a:solidFill>
              </a:rPr>
              <a:t>• ALB weighted target groups split the traffic</a:t>
            </a:r>
          </a:p>
          <a:p>
            <a:pPr>
              <a:spcAft>
                <a:spcPts val="600"/>
              </a:spcAft>
            </a:pPr>
            <a:r>
              <a:rPr sz="1500">
                <a:solidFill>
                  <a:srgbClr val="212121"/>
                </a:solidFill>
              </a:rPr>
              <a:t>• Forecast sets instance count (hourly); observed rate sets weights (per minute)</a:t>
            </a:r>
          </a:p>
        </p:txBody>
      </p:sp>
      <p:sp>
        <p:nvSpPr>
          <p:cNvPr id="5" name="Rounded Rectangle 4"/>
          <p:cNvSpPr/>
          <p:nvPr/>
        </p:nvSpPr>
        <p:spPr>
          <a:xfrm>
            <a:off x="4663440" y="1371600"/>
            <a:ext cx="4023360" cy="1920240"/>
          </a:xfrm>
          <a:prstGeom prst="roundRect">
            <a:avLst/>
          </a:prstGeom>
          <a:solidFill>
            <a:srgbClr val="E8F0FB"/>
          </a:solidFill>
          <a:ln>
            <a:solidFill>
              <a:srgbClr val="B7202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212121"/>
                </a:solidFill>
                <a:latin typeface="Calibri"/>
              </a:rPr>
              <a:t>base  b* = F⁻¹(q*)</a:t>
            </a:r>
          </a:p>
          <a:p>
            <a:pPr algn="ctr"/>
            <a:r>
              <a:rPr sz="2100" b="1">
                <a:solidFill>
                  <a:srgbClr val="212121"/>
                </a:solidFill>
                <a:latin typeface="Calibri"/>
              </a:rPr>
              <a:t>q* = 1 − f / L</a:t>
            </a:r>
          </a:p>
          <a:p>
            <a:pPr algn="ctr"/>
            <a:r>
              <a:rPr sz="1100" b="0">
                <a:solidFill>
                  <a:srgbClr val="212121"/>
                </a:solidFill>
                <a:latin typeface="Calibri"/>
              </a:rPr>
              <a:t>f: container $ per unit-minute
L: Lambda $ per unit-minute</a:t>
            </a:r>
          </a:p>
        </p:txBody>
      </p:sp>
      <p:sp>
        <p:nvSpPr>
          <p:cNvPr id="6" name="TextBox 5"/>
          <p:cNvSpPr txBox="1"/>
          <p:nvPr/>
        </p:nvSpPr>
        <p:spPr>
          <a:xfrm>
            <a:off x="4663440" y="3566160"/>
            <a:ext cx="4023360" cy="1097280"/>
          </a:xfrm>
          <a:prstGeom prst="rect">
            <a:avLst/>
          </a:prstGeom>
          <a:noFill/>
        </p:spPr>
        <p:txBody>
          <a:bodyPr wrap="square">
            <a:spAutoFit/>
          </a:bodyPr>
          <a:lstStyle/>
          <a:p>
            <a:r>
              <a:rPr sz="2800" b="1">
                <a:solidFill>
                  <a:srgbClr val="B7202E"/>
                </a:solidFill>
              </a:rPr>
              <a:t>0.0013%</a:t>
            </a:r>
          </a:p>
          <a:p>
            <a:r>
              <a:rPr sz="1100">
                <a:solidFill>
                  <a:srgbClr val="58595B"/>
                </a:solidFill>
              </a:rPr>
              <a:t>gap between the rule and brute-force search (test hours)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Data</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Azure Functions 2019 trace, filtered to busy functions</a:t>
            </a:r>
          </a:p>
        </p:txBody>
      </p:sp>
      <p:graphicFrame>
        <p:nvGraphicFramePr>
          <p:cNvPr id="4" name="Table 3"/>
          <p:cNvGraphicFramePr>
            <a:graphicFrameLocks noGrp="1"/>
          </p:cNvGraphicFramePr>
          <p:nvPr/>
        </p:nvGraphicFramePr>
        <p:xfrm>
          <a:off x="411480" y="1371600"/>
          <a:ext cx="4480560" cy="2752344"/>
        </p:xfrm>
        <a:graphic>
          <a:graphicData uri="http://schemas.openxmlformats.org/drawingml/2006/table">
            <a:tbl>
              <a:tblPr firstRow="1" bandRow="1">
                <a:tableStyleId>{5C22544A-7EE6-4342-B048-85BDC9FD1C3A}</a:tableStyleId>
              </a:tblPr>
              <a:tblGrid>
                <a:gridCol w="3017520"/>
                <a:gridCol w="1463040"/>
              </a:tblGrid>
              <a:tr h="393192">
                <a:tc>
                  <a:txBody>
                    <a:bodyPr/>
                    <a:lstStyle/>
                    <a:p>
                      <a:r>
                        <a:rPr sz="1400" b="1">
                          <a:solidFill>
                            <a:srgbClr val="FFFFFF"/>
                          </a:solidFill>
                        </a:rPr>
                        <a:t>Step</a:t>
                      </a:r>
                    </a:p>
                  </a:txBody>
                  <a:tcPr marT="20000" marB="20000" marL="50000" marR="50000" anchor="ctr">
                    <a:solidFill>
                      <a:srgbClr val="B7202E"/>
                    </a:solidFill>
                  </a:tcPr>
                </a:tc>
                <a:tc>
                  <a:txBody>
                    <a:bodyPr/>
                    <a:lstStyle/>
                    <a:p>
                      <a:r>
                        <a:rPr sz="1400" b="1">
                          <a:solidFill>
                            <a:srgbClr val="FFFFFF"/>
                          </a:solidFill>
                        </a:rPr>
                        <a:t>Count</a:t>
                      </a:r>
                    </a:p>
                  </a:txBody>
                  <a:tcPr marT="20000" marB="20000" marL="50000" marR="50000" anchor="ctr">
                    <a:solidFill>
                      <a:srgbClr val="B7202E"/>
                    </a:solidFill>
                  </a:tcPr>
                </a:tc>
              </a:tr>
              <a:tr h="393192">
                <a:tc>
                  <a:txBody>
                    <a:bodyPr/>
                    <a:lstStyle/>
                    <a:p>
                      <a:r>
                        <a:rPr sz="1400" b="0">
                          <a:solidFill>
                            <a:srgbClr val="212121"/>
                          </a:solidFill>
                        </a:rPr>
                        <a:t>Distinct functions (14 days)</a:t>
                      </a:r>
                    </a:p>
                  </a:txBody>
                  <a:tcPr marT="20000" marB="20000" marL="50000" marR="50000" anchor="ctr">
                    <a:solidFill>
                      <a:srgbClr val="FFFFFF"/>
                    </a:solidFill>
                  </a:tcPr>
                </a:tc>
                <a:tc>
                  <a:txBody>
                    <a:bodyPr/>
                    <a:lstStyle/>
                    <a:p>
                      <a:r>
                        <a:rPr sz="1400" b="0">
                          <a:solidFill>
                            <a:srgbClr val="212121"/>
                          </a:solidFill>
                        </a:rPr>
                        <a:t>72,359</a:t>
                      </a:r>
                    </a:p>
                  </a:txBody>
                  <a:tcPr marT="20000" marB="20000" marL="50000" marR="50000" anchor="ctr">
                    <a:solidFill>
                      <a:srgbClr val="FFFFFF"/>
                    </a:solidFill>
                  </a:tcPr>
                </a:tc>
              </a:tr>
              <a:tr h="393192">
                <a:tc>
                  <a:txBody>
                    <a:bodyPr/>
                    <a:lstStyle/>
                    <a:p>
                      <a:r>
                        <a:rPr sz="1400" b="0">
                          <a:solidFill>
                            <a:srgbClr val="212121"/>
                          </a:solidFill>
                        </a:rPr>
                        <a:t>On day 1</a:t>
                      </a:r>
                    </a:p>
                  </a:txBody>
                  <a:tcPr marT="20000" marB="20000" marL="50000" marR="50000" anchor="ctr">
                    <a:solidFill>
                      <a:srgbClr val="F4F4F4"/>
                    </a:solidFill>
                  </a:tcPr>
                </a:tc>
                <a:tc>
                  <a:txBody>
                    <a:bodyPr/>
                    <a:lstStyle/>
                    <a:p>
                      <a:r>
                        <a:rPr sz="1400" b="0">
                          <a:solidFill>
                            <a:srgbClr val="212121"/>
                          </a:solidFill>
                        </a:rPr>
                        <a:t>46,412</a:t>
                      </a:r>
                    </a:p>
                  </a:txBody>
                  <a:tcPr marT="20000" marB="20000" marL="50000" marR="50000" anchor="ctr">
                    <a:solidFill>
                      <a:srgbClr val="F4F4F4"/>
                    </a:solidFill>
                  </a:tcPr>
                </a:tc>
              </a:tr>
              <a:tr h="393192">
                <a:tc>
                  <a:txBody>
                    <a:bodyPr/>
                    <a:lstStyle/>
                    <a:p>
                      <a:r>
                        <a:rPr sz="1400" b="0">
                          <a:solidFill>
                            <a:srgbClr val="212121"/>
                          </a:solidFill>
                        </a:rPr>
                        <a:t>On all 14 days</a:t>
                      </a:r>
                    </a:p>
                  </a:txBody>
                  <a:tcPr marT="20000" marB="20000" marL="50000" marR="50000" anchor="ctr">
                    <a:solidFill>
                      <a:srgbClr val="FFFFFF"/>
                    </a:solidFill>
                  </a:tcPr>
                </a:tc>
                <a:tc>
                  <a:txBody>
                    <a:bodyPr/>
                    <a:lstStyle/>
                    <a:p>
                      <a:r>
                        <a:rPr sz="1400" b="0">
                          <a:solidFill>
                            <a:srgbClr val="212121"/>
                          </a:solidFill>
                        </a:rPr>
                        <a:t>28,859</a:t>
                      </a:r>
                    </a:p>
                  </a:txBody>
                  <a:tcPr marT="20000" marB="20000" marL="50000" marR="50000" anchor="ctr">
                    <a:solidFill>
                      <a:srgbClr val="FFFFFF"/>
                    </a:solidFill>
                  </a:tcPr>
                </a:tc>
              </a:tr>
              <a:tr h="393192">
                <a:tc>
                  <a:txBody>
                    <a:bodyPr/>
                    <a:lstStyle/>
                    <a:p>
                      <a:r>
                        <a:rPr sz="1400" b="0">
                          <a:solidFill>
                            <a:srgbClr val="212121"/>
                          </a:solidFill>
                        </a:rPr>
                        <a:t>&gt;= 5 req/min, all 14 days</a:t>
                      </a:r>
                    </a:p>
                  </a:txBody>
                  <a:tcPr marT="20000" marB="20000" marL="50000" marR="50000" anchor="ctr">
                    <a:solidFill>
                      <a:srgbClr val="F4F4F4"/>
                    </a:solidFill>
                  </a:tcPr>
                </a:tc>
                <a:tc>
                  <a:txBody>
                    <a:bodyPr/>
                    <a:lstStyle/>
                    <a:p>
                      <a:r>
                        <a:rPr sz="1400" b="0">
                          <a:solidFill>
                            <a:srgbClr val="212121"/>
                          </a:solidFill>
                        </a:rPr>
                        <a:t>2,127</a:t>
                      </a:r>
                    </a:p>
                  </a:txBody>
                  <a:tcPr marT="20000" marB="20000" marL="50000" marR="50000" anchor="ctr">
                    <a:solidFill>
                      <a:srgbClr val="F4F4F4"/>
                    </a:solidFill>
                  </a:tcPr>
                </a:tc>
              </a:tr>
              <a:tr h="393192">
                <a:tc>
                  <a:txBody>
                    <a:bodyPr/>
                    <a:lstStyle/>
                    <a:p>
                      <a:r>
                        <a:rPr sz="1400" b="0">
                          <a:solidFill>
                            <a:srgbClr val="212121"/>
                          </a:solidFill>
                        </a:rPr>
                        <a:t>+ duration + memory</a:t>
                      </a:r>
                    </a:p>
                  </a:txBody>
                  <a:tcPr marT="20000" marB="20000" marL="50000" marR="50000" anchor="ctr">
                    <a:solidFill>
                      <a:srgbClr val="FFFFFF"/>
                    </a:solidFill>
                  </a:tcPr>
                </a:tc>
                <a:tc>
                  <a:txBody>
                    <a:bodyPr/>
                    <a:lstStyle/>
                    <a:p>
                      <a:r>
                        <a:rPr sz="1400" b="0">
                          <a:solidFill>
                            <a:srgbClr val="212121"/>
                          </a:solidFill>
                        </a:rPr>
                        <a:t>2,066</a:t>
                      </a:r>
                    </a:p>
                  </a:txBody>
                  <a:tcPr marT="20000" marB="20000" marL="50000" marR="50000" anchor="ctr">
                    <a:solidFill>
                      <a:srgbClr val="FFFFFF"/>
                    </a:solidFill>
                  </a:tcPr>
                </a:tc>
              </a:tr>
              <a:tr h="393192">
                <a:tc>
                  <a:txBody>
                    <a:bodyPr/>
                    <a:lstStyle/>
                    <a:p>
                      <a:r>
                        <a:rPr sz="1400" b="0">
                          <a:solidFill>
                            <a:srgbClr val="212121"/>
                          </a:solidFill>
                        </a:rPr>
                        <a:t>Heavy (&gt;= $50/mo)</a:t>
                      </a:r>
                    </a:p>
                  </a:txBody>
                  <a:tcPr marT="20000" marB="20000" marL="50000" marR="50000" anchor="ctr">
                    <a:solidFill>
                      <a:srgbClr val="F4F4F4"/>
                    </a:solidFill>
                  </a:tcPr>
                </a:tc>
                <a:tc>
                  <a:txBody>
                    <a:bodyPr/>
                    <a:lstStyle/>
                    <a:p>
                      <a:r>
                        <a:rPr sz="1400" b="0">
                          <a:solidFill>
                            <a:srgbClr val="212121"/>
                          </a:solidFill>
                        </a:rPr>
                        <a:t>101</a:t>
                      </a:r>
                    </a:p>
                  </a:txBody>
                  <a:tcPr marT="20000" marB="20000" marL="50000" marR="50000" anchor="ctr">
                    <a:solidFill>
                      <a:srgbClr val="F4F4F4"/>
                    </a:solidFill>
                  </a:tcPr>
                </a:tc>
              </a:tr>
            </a:tbl>
          </a:graphicData>
        </a:graphic>
      </p:graphicFrame>
      <p:sp>
        <p:nvSpPr>
          <p:cNvPr id="5" name="TextBox 4"/>
          <p:cNvSpPr txBox="1"/>
          <p:nvPr/>
        </p:nvSpPr>
        <p:spPr>
          <a:xfrm>
            <a:off x="5120640" y="1371600"/>
            <a:ext cx="3566160" cy="3108960"/>
          </a:xfrm>
          <a:prstGeom prst="rect">
            <a:avLst/>
          </a:prstGeom>
          <a:noFill/>
        </p:spPr>
        <p:txBody>
          <a:bodyPr wrap="square">
            <a:spAutoFit/>
          </a:bodyPr>
          <a:lstStyle/>
          <a:p>
            <a:pPr>
              <a:spcAft>
                <a:spcPts val="600"/>
              </a:spcAft>
            </a:pPr>
            <a:r>
              <a:rPr sz="1400">
                <a:solidFill>
                  <a:srgbClr val="212121"/>
                </a:solidFill>
              </a:rPr>
              <a:t>• Load = invocations/min ÷ 60 × duration (concurrency)</a:t>
            </a:r>
          </a:p>
          <a:p>
            <a:pPr>
              <a:spcAft>
                <a:spcPts val="600"/>
              </a:spcAft>
            </a:pPr>
            <a:r>
              <a:rPr sz="1400">
                <a:solidFill>
                  <a:srgbClr val="212121"/>
                </a:solidFill>
              </a:rPr>
              <a:t>• Timer functions excluded (periodic, not diurnal)</a:t>
            </a:r>
          </a:p>
          <a:p>
            <a:pPr>
              <a:spcAft>
                <a:spcPts val="600"/>
              </a:spcAft>
            </a:pPr>
            <a:r>
              <a:rPr sz="1400">
                <a:solidFill>
                  <a:srgbClr val="212121"/>
                </a:solidFill>
              </a:rPr>
              <a:t>• Chronological split: train 1-10, validation 11-12, test 13-14</a:t>
            </a:r>
          </a:p>
          <a:p>
            <a:pPr>
              <a:spcAft>
                <a:spcPts val="600"/>
              </a:spcAft>
            </a:pPr>
            <a:r>
              <a:rPr sz="1400">
                <a:solidFill>
                  <a:srgbClr val="212121"/>
                </a:solidFill>
              </a:rPr>
              <a:t>• Azure traffic priced with AWS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Features and model</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LightGBM quantile regression, next-hour horizon</a:t>
            </a:r>
          </a:p>
        </p:txBody>
      </p:sp>
      <p:sp>
        <p:nvSpPr>
          <p:cNvPr id="4" name="TextBox 3"/>
          <p:cNvSpPr txBox="1"/>
          <p:nvPr/>
        </p:nvSpPr>
        <p:spPr>
          <a:xfrm>
            <a:off x="411480" y="1371600"/>
            <a:ext cx="4114800" cy="3108960"/>
          </a:xfrm>
          <a:prstGeom prst="rect">
            <a:avLst/>
          </a:prstGeom>
          <a:noFill/>
        </p:spPr>
        <p:txBody>
          <a:bodyPr wrap="square">
            <a:spAutoFit/>
          </a:bodyPr>
          <a:lstStyle/>
          <a:p>
            <a:pPr>
              <a:spcAft>
                <a:spcPts val="600"/>
              </a:spcAft>
            </a:pPr>
            <a:r>
              <a:rPr sz="1300">
                <a:solidFill>
                  <a:srgbClr val="212121"/>
                </a:solidFill>
              </a:rPr>
              <a:t>• Targets: q in {0.5, 0.7, 0.8, 0.9, 0.95, 0.99} of next-hour per-minute concurrency</a:t>
            </a:r>
          </a:p>
          <a:p>
            <a:pPr>
              <a:spcAft>
                <a:spcPts val="600"/>
              </a:spcAft>
            </a:pPr>
            <a:r>
              <a:rPr sz="1300">
                <a:solidFill>
                  <a:srgbClr val="212121"/>
                </a:solidFill>
              </a:rPr>
              <a:t>• Features: last 60 / 360 min (mean, max, q90), same hour yesterday, hour of day, trigger, app level</a:t>
            </a:r>
          </a:p>
          <a:p>
            <a:pPr>
              <a:spcAft>
                <a:spcPts val="600"/>
              </a:spcAft>
            </a:pPr>
            <a:r>
              <a:rPr sz="1300">
                <a:solidFill>
                  <a:srgbClr val="212121"/>
                </a:solidFill>
              </a:rPr>
              <a:t>• Margin multiplier chosen on validation by decision cost</a:t>
            </a:r>
          </a:p>
          <a:p>
            <a:pPr>
              <a:spcAft>
                <a:spcPts val="600"/>
              </a:spcAft>
            </a:pPr>
            <a:r>
              <a:rPr sz="1300">
                <a:solidFill>
                  <a:srgbClr val="212121"/>
                </a:solidFill>
              </a:rPr>
              <a:t>• Baselines: persistence, rolling 6 h, seasonal naive, static</a:t>
            </a:r>
          </a:p>
        </p:txBody>
      </p:sp>
      <p:pic>
        <p:nvPicPr>
          <p:cNvPr id="5" name="Picture 4" descr="quantile_coverage.png"/>
          <p:cNvPicPr>
            <a:picLocks noChangeAspect="1"/>
          </p:cNvPicPr>
          <p:nvPr/>
        </p:nvPicPr>
        <p:blipFill>
          <a:blip r:embed="rId3"/>
          <a:stretch>
            <a:fillRect/>
          </a:stretch>
        </p:blipFill>
        <p:spPr>
          <a:xfrm>
            <a:off x="4663440" y="1371600"/>
            <a:ext cx="4023360" cy="296401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Architecture</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Forecast sets instances, observed load sets weights</a:t>
            </a:r>
          </a:p>
        </p:txBody>
      </p:sp>
      <p:pic>
        <p:nvPicPr>
          <p:cNvPr id="4" name="Picture 3" descr="architecture.png"/>
          <p:cNvPicPr>
            <a:picLocks noChangeAspect="1"/>
          </p:cNvPicPr>
          <p:nvPr/>
        </p:nvPicPr>
        <p:blipFill>
          <a:blip r:embed="rId3"/>
          <a:stretch>
            <a:fillRect/>
          </a:stretch>
        </p:blipFill>
        <p:spPr>
          <a:xfrm>
            <a:off x="365760" y="1371600"/>
            <a:ext cx="5760720" cy="3212489"/>
          </a:xfrm>
          <a:prstGeom prst="rect">
            <a:avLst/>
          </a:prstGeom>
        </p:spPr>
      </p:pic>
      <p:sp>
        <p:nvSpPr>
          <p:cNvPr id="5" name="TextBox 4"/>
          <p:cNvSpPr txBox="1"/>
          <p:nvPr/>
        </p:nvSpPr>
        <p:spPr>
          <a:xfrm>
            <a:off x="6309360" y="1554480"/>
            <a:ext cx="2468880" cy="2743200"/>
          </a:xfrm>
          <a:prstGeom prst="rect">
            <a:avLst/>
          </a:prstGeom>
          <a:noFill/>
        </p:spPr>
        <p:txBody>
          <a:bodyPr wrap="square">
            <a:spAutoFit/>
          </a:bodyPr>
          <a:lstStyle/>
          <a:p>
            <a:pPr>
              <a:spcAft>
                <a:spcPts val="600"/>
              </a:spcAft>
            </a:pPr>
            <a:r>
              <a:rPr sz="1200">
                <a:solidFill>
                  <a:srgbClr val="212121"/>
                </a:solidFill>
              </a:rPr>
              <a:t>• ALB weights 0-999, per minute</a:t>
            </a:r>
          </a:p>
          <a:p>
            <a:pPr>
              <a:spcAft>
                <a:spcPts val="600"/>
              </a:spcAft>
            </a:pPr>
            <a:r>
              <a:rPr sz="1200">
                <a:solidFill>
                  <a:srgbClr val="212121"/>
                </a:solidFill>
              </a:rPr>
              <a:t>• ASG desired capacity, per hour</a:t>
            </a:r>
          </a:p>
          <a:p>
            <a:pPr>
              <a:spcAft>
                <a:spcPts val="600"/>
              </a:spcAft>
            </a:pPr>
            <a:r>
              <a:rPr sz="1200">
                <a:solidFill>
                  <a:srgbClr val="212121"/>
                </a:solidFill>
              </a:rPr>
              <a:t>• Lambda 1769 MB (1 vCPU) as overflow</a:t>
            </a:r>
          </a:p>
          <a:p>
            <a:pPr>
              <a:spcAft>
                <a:spcPts val="600"/>
              </a:spcAft>
            </a:pPr>
            <a:r>
              <a:rPr sz="1200">
                <a:solidFill>
                  <a:srgbClr val="212121"/>
                </a:solidFill>
              </a:rPr>
              <a:t>• make up / make down, tagged, verified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Simulation results</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The hybrid wins on cost and unserved load; ML adds almost nothing over rolling</a:t>
            </a:r>
          </a:p>
        </p:txBody>
      </p:sp>
      <p:pic>
        <p:nvPicPr>
          <p:cNvPr id="4" name="Picture 3" descr="cost_comparison.png"/>
          <p:cNvPicPr>
            <a:picLocks noChangeAspect="1"/>
          </p:cNvPicPr>
          <p:nvPr/>
        </p:nvPicPr>
        <p:blipFill>
          <a:blip r:embed="rId3"/>
          <a:stretch>
            <a:fillRect/>
          </a:stretch>
        </p:blipFill>
        <p:spPr>
          <a:xfrm>
            <a:off x="365760" y="1371600"/>
            <a:ext cx="5669280" cy="2655170"/>
          </a:xfrm>
          <a:prstGeom prst="rect">
            <a:avLst/>
          </a:prstGeom>
        </p:spPr>
      </p:pic>
      <p:sp>
        <p:nvSpPr>
          <p:cNvPr id="5" name="TextBox 4"/>
          <p:cNvSpPr txBox="1"/>
          <p:nvPr/>
        </p:nvSpPr>
        <p:spPr>
          <a:xfrm>
            <a:off x="6217920" y="1554480"/>
            <a:ext cx="2560320" cy="2743200"/>
          </a:xfrm>
          <a:prstGeom prst="rect">
            <a:avLst/>
          </a:prstGeom>
          <a:noFill/>
        </p:spPr>
        <p:txBody>
          <a:bodyPr wrap="square">
            <a:spAutoFit/>
          </a:bodyPr>
          <a:lstStyle/>
          <a:p>
            <a:pPr>
              <a:spcAft>
                <a:spcPts val="600"/>
              </a:spcAft>
            </a:pPr>
            <a:r>
              <a:rPr sz="1200">
                <a:solidFill>
                  <a:srgbClr val="212121"/>
                </a:solidFill>
              </a:rPr>
              <a:t>• Hybrid-rolling $32.2k vs all-Lambda $54.6k</a:t>
            </a:r>
          </a:p>
          <a:p>
            <a:pPr>
              <a:spcAft>
                <a:spcPts val="600"/>
              </a:spcAft>
            </a:pPr>
            <a:r>
              <a:rPr sz="1200">
                <a:solidFill>
                  <a:srgbClr val="212121"/>
                </a:solidFill>
              </a:rPr>
              <a:t>• ML vs rolling: -0.25% (noise level)</a:t>
            </a:r>
          </a:p>
          <a:p>
            <a:pPr>
              <a:spcAft>
                <a:spcPts val="600"/>
              </a:spcAft>
            </a:pPr>
            <a:r>
              <a:rPr sz="1200">
                <a:solidFill>
                  <a:srgbClr val="212121"/>
                </a:solidFill>
              </a:rPr>
              <a:t>• Headroom to oracle: 5.4%</a:t>
            </a:r>
          </a:p>
          <a:p>
            <a:pPr>
              <a:spcAft>
                <a:spcPts val="600"/>
              </a:spcAft>
            </a:pPr>
            <a:r>
              <a:rPr sz="1200">
                <a:solidFill>
                  <a:srgbClr val="212121"/>
                </a:solidFill>
              </a:rPr>
              <a:t>• Energy (estimate): hybrid 3,455 kWh vs all-Lambda 1,040 kWh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Live results on AWS</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Four arms, same trace, run once each</a:t>
            </a:r>
          </a:p>
        </p:txBody>
      </p:sp>
      <p:pic>
        <p:nvPicPr>
          <p:cNvPr id="4" name="Picture 3" descr="live_timelines.png"/>
          <p:cNvPicPr>
            <a:picLocks noChangeAspect="1"/>
          </p:cNvPicPr>
          <p:nvPr/>
        </p:nvPicPr>
        <p:blipFill>
          <a:blip r:embed="rId3"/>
          <a:stretch>
            <a:fillRect/>
          </a:stretch>
        </p:blipFill>
        <p:spPr>
          <a:xfrm>
            <a:off x="365760" y="1371600"/>
            <a:ext cx="4937760" cy="3140574"/>
          </a:xfrm>
          <a:prstGeom prst="rect">
            <a:avLst/>
          </a:prstGeom>
        </p:spPr>
      </p:pic>
      <p:graphicFrame>
        <p:nvGraphicFramePr>
          <p:cNvPr id="5" name="Table 4"/>
          <p:cNvGraphicFramePr>
            <a:graphicFrameLocks noGrp="1"/>
          </p:cNvGraphicFramePr>
          <p:nvPr/>
        </p:nvGraphicFramePr>
        <p:xfrm>
          <a:off x="5440680" y="1371600"/>
          <a:ext cx="3291840" cy="1554480"/>
        </p:xfrm>
        <a:graphic>
          <a:graphicData uri="http://schemas.openxmlformats.org/drawingml/2006/table">
            <a:tbl>
              <a:tblPr firstRow="1" bandRow="1">
                <a:tableStyleId>{5C22544A-7EE6-4342-B048-85BDC9FD1C3A}</a:tableStyleId>
              </a:tblPr>
              <a:tblGrid>
                <a:gridCol w="960120"/>
                <a:gridCol w="548640"/>
                <a:gridCol w="640080"/>
                <a:gridCol w="594360"/>
                <a:gridCol w="548640"/>
              </a:tblGrid>
              <a:tr h="310896">
                <a:tc>
                  <a:txBody>
                    <a:bodyPr/>
                    <a:lstStyle/>
                    <a:p>
                      <a:r>
                        <a:rPr sz="1000" b="1">
                          <a:solidFill>
                            <a:srgbClr val="FFFFFF"/>
                          </a:solidFill>
                        </a:rPr>
                        <a:t>Arm</a:t>
                      </a:r>
                    </a:p>
                  </a:txBody>
                  <a:tcPr marT="20000" marB="20000" marL="50000" marR="50000" anchor="ctr">
                    <a:solidFill>
                      <a:srgbClr val="B7202E"/>
                    </a:solidFill>
                  </a:tcPr>
                </a:tc>
                <a:tc>
                  <a:txBody>
                    <a:bodyPr/>
                    <a:lstStyle/>
                    <a:p>
                      <a:r>
                        <a:rPr sz="1000" b="1">
                          <a:solidFill>
                            <a:srgbClr val="FFFFFF"/>
                          </a:solidFill>
                        </a:rPr>
                        <a:t>Errors</a:t>
                      </a:r>
                    </a:p>
                  </a:txBody>
                  <a:tcPr marT="20000" marB="20000" marL="50000" marR="50000" anchor="ctr">
                    <a:solidFill>
                      <a:srgbClr val="B7202E"/>
                    </a:solidFill>
                  </a:tcPr>
                </a:tc>
                <a:tc>
                  <a:txBody>
                    <a:bodyPr/>
                    <a:lstStyle/>
                    <a:p>
                      <a:r>
                        <a:rPr sz="1000" b="1">
                          <a:solidFill>
                            <a:srgbClr val="FFFFFF"/>
                          </a:solidFill>
                        </a:rPr>
                        <a:t>Lambda</a:t>
                      </a:r>
                    </a:p>
                  </a:txBody>
                  <a:tcPr marT="20000" marB="20000" marL="50000" marR="50000" anchor="ctr">
                    <a:solidFill>
                      <a:srgbClr val="B7202E"/>
                    </a:solidFill>
                  </a:tcPr>
                </a:tc>
                <a:tc>
                  <a:txBody>
                    <a:bodyPr/>
                    <a:lstStyle/>
                    <a:p>
                      <a:r>
                        <a:rPr sz="1000" b="1">
                          <a:solidFill>
                            <a:srgbClr val="FFFFFF"/>
                          </a:solidFill>
                        </a:rPr>
                        <a:t>p95 ms</a:t>
                      </a:r>
                    </a:p>
                  </a:txBody>
                  <a:tcPr marT="20000" marB="20000" marL="50000" marR="50000" anchor="ctr">
                    <a:solidFill>
                      <a:srgbClr val="B7202E"/>
                    </a:solidFill>
                  </a:tcPr>
                </a:tc>
                <a:tc>
                  <a:txBody>
                    <a:bodyPr/>
                    <a:lstStyle/>
                    <a:p>
                      <a:r>
                        <a:rPr sz="1000" b="1">
                          <a:solidFill>
                            <a:srgbClr val="FFFFFF"/>
                          </a:solidFill>
                        </a:rPr>
                        <a:t>Cost</a:t>
                      </a:r>
                    </a:p>
                  </a:txBody>
                  <a:tcPr marT="20000" marB="20000" marL="50000" marR="50000" anchor="ctr">
                    <a:solidFill>
                      <a:srgbClr val="B7202E"/>
                    </a:solidFill>
                  </a:tcPr>
                </a:tc>
              </a:tr>
              <a:tr h="310896">
                <a:tc>
                  <a:txBody>
                    <a:bodyPr/>
                    <a:lstStyle/>
                    <a:p>
                      <a:r>
                        <a:rPr sz="1000" b="0">
                          <a:solidFill>
                            <a:srgbClr val="212121"/>
                          </a:solidFill>
                        </a:rPr>
                        <a:t>A reactive</a:t>
                      </a:r>
                    </a:p>
                  </a:txBody>
                  <a:tcPr marT="20000" marB="20000" marL="50000" marR="50000" anchor="ctr">
                    <a:solidFill>
                      <a:srgbClr val="FFFFFF"/>
                    </a:solidFill>
                  </a:tcPr>
                </a:tc>
                <a:tc>
                  <a:txBody>
                    <a:bodyPr/>
                    <a:lstStyle/>
                    <a:p>
                      <a:r>
                        <a:rPr sz="1000" b="0">
                          <a:solidFill>
                            <a:srgbClr val="212121"/>
                          </a:solidFill>
                        </a:rPr>
                        <a:t>0.1%</a:t>
                      </a:r>
                    </a:p>
                  </a:txBody>
                  <a:tcPr marT="20000" marB="20000" marL="50000" marR="50000" anchor="ctr">
                    <a:solidFill>
                      <a:srgbClr val="FFFFFF"/>
                    </a:solidFill>
                  </a:tcPr>
                </a:tc>
                <a:tc>
                  <a:txBody>
                    <a:bodyPr/>
                    <a:lstStyle/>
                    <a:p>
                      <a:r>
                        <a:rPr sz="1000" b="0">
                          <a:solidFill>
                            <a:srgbClr val="212121"/>
                          </a:solidFill>
                        </a:rPr>
                        <a:t>0%</a:t>
                      </a:r>
                    </a:p>
                  </a:txBody>
                  <a:tcPr marT="20000" marB="20000" marL="50000" marR="50000" anchor="ctr">
                    <a:solidFill>
                      <a:srgbClr val="FFFFFF"/>
                    </a:solidFill>
                  </a:tcPr>
                </a:tc>
                <a:tc>
                  <a:txBody>
                    <a:bodyPr/>
                    <a:lstStyle/>
                    <a:p>
                      <a:r>
                        <a:rPr sz="1000" b="0">
                          <a:solidFill>
                            <a:srgbClr val="212121"/>
                          </a:solidFill>
                        </a:rPr>
                        <a:t>566</a:t>
                      </a:r>
                    </a:p>
                  </a:txBody>
                  <a:tcPr marT="20000" marB="20000" marL="50000" marR="50000" anchor="ctr">
                    <a:solidFill>
                      <a:srgbClr val="FFFFFF"/>
                    </a:solidFill>
                  </a:tcPr>
                </a:tc>
                <a:tc>
                  <a:txBody>
                    <a:bodyPr/>
                    <a:lstStyle/>
                    <a:p>
                      <a:r>
                        <a:rPr sz="1000" b="0">
                          <a:solidFill>
                            <a:srgbClr val="212121"/>
                          </a:solidFill>
                        </a:rPr>
                        <a:t>$0.038</a:t>
                      </a:r>
                    </a:p>
                  </a:txBody>
                  <a:tcPr marT="20000" marB="20000" marL="50000" marR="50000" anchor="ctr">
                    <a:solidFill>
                      <a:srgbClr val="FFFFFF"/>
                    </a:solidFill>
                  </a:tcPr>
                </a:tc>
              </a:tr>
              <a:tr h="310896">
                <a:tc>
                  <a:txBody>
                    <a:bodyPr/>
                    <a:lstStyle/>
                    <a:p>
                      <a:r>
                        <a:rPr sz="1000" b="0">
                          <a:solidFill>
                            <a:srgbClr val="212121"/>
                          </a:solidFill>
                        </a:rPr>
                        <a:t>B static</a:t>
                      </a:r>
                    </a:p>
                  </a:txBody>
                  <a:tcPr marT="20000" marB="20000" marL="50000" marR="50000" anchor="ctr">
                    <a:solidFill>
                      <a:srgbClr val="F4F4F4"/>
                    </a:solidFill>
                  </a:tcPr>
                </a:tc>
                <a:tc>
                  <a:txBody>
                    <a:bodyPr/>
                    <a:lstStyle/>
                    <a:p>
                      <a:r>
                        <a:rPr sz="1000" b="0">
                          <a:solidFill>
                            <a:srgbClr val="212121"/>
                          </a:solidFill>
                        </a:rPr>
                        <a:t>0.0%</a:t>
                      </a:r>
                    </a:p>
                  </a:txBody>
                  <a:tcPr marT="20000" marB="20000" marL="50000" marR="50000" anchor="ctr">
                    <a:solidFill>
                      <a:srgbClr val="F4F4F4"/>
                    </a:solidFill>
                  </a:tcPr>
                </a:tc>
                <a:tc>
                  <a:txBody>
                    <a:bodyPr/>
                    <a:lstStyle/>
                    <a:p>
                      <a:r>
                        <a:rPr sz="1000" b="0">
                          <a:solidFill>
                            <a:srgbClr val="212121"/>
                          </a:solidFill>
                        </a:rPr>
                        <a:t>1%</a:t>
                      </a:r>
                    </a:p>
                  </a:txBody>
                  <a:tcPr marT="20000" marB="20000" marL="50000" marR="50000" anchor="ctr">
                    <a:solidFill>
                      <a:srgbClr val="F4F4F4"/>
                    </a:solidFill>
                  </a:tcPr>
                </a:tc>
                <a:tc>
                  <a:txBody>
                    <a:bodyPr/>
                    <a:lstStyle/>
                    <a:p>
                      <a:r>
                        <a:rPr sz="1000" b="0">
                          <a:solidFill>
                            <a:srgbClr val="212121"/>
                          </a:solidFill>
                        </a:rPr>
                        <a:t>517</a:t>
                      </a:r>
                    </a:p>
                  </a:txBody>
                  <a:tcPr marT="20000" marB="20000" marL="50000" marR="50000" anchor="ctr">
                    <a:solidFill>
                      <a:srgbClr val="F4F4F4"/>
                    </a:solidFill>
                  </a:tcPr>
                </a:tc>
                <a:tc>
                  <a:txBody>
                    <a:bodyPr/>
                    <a:lstStyle/>
                    <a:p>
                      <a:r>
                        <a:rPr sz="1000" b="0">
                          <a:solidFill>
                            <a:srgbClr val="212121"/>
                          </a:solidFill>
                        </a:rPr>
                        <a:t>$0.085</a:t>
                      </a:r>
                    </a:p>
                  </a:txBody>
                  <a:tcPr marT="20000" marB="20000" marL="50000" marR="50000" anchor="ctr">
                    <a:solidFill>
                      <a:srgbClr val="F4F4F4"/>
                    </a:solidFill>
                  </a:tcPr>
                </a:tc>
              </a:tr>
              <a:tr h="310896">
                <a:tc>
                  <a:txBody>
                    <a:bodyPr/>
                    <a:lstStyle/>
                    <a:p>
                      <a:r>
                        <a:rPr sz="1000" b="0">
                          <a:solidFill>
                            <a:srgbClr val="212121"/>
                          </a:solidFill>
                        </a:rPr>
                        <a:t>C ML</a:t>
                      </a:r>
                    </a:p>
                  </a:txBody>
                  <a:tcPr marT="20000" marB="20000" marL="50000" marR="50000" anchor="ctr">
                    <a:solidFill>
                      <a:srgbClr val="FFFFFF"/>
                    </a:solidFill>
                  </a:tcPr>
                </a:tc>
                <a:tc>
                  <a:txBody>
                    <a:bodyPr/>
                    <a:lstStyle/>
                    <a:p>
                      <a:r>
                        <a:rPr sz="1000" b="0">
                          <a:solidFill>
                            <a:srgbClr val="212121"/>
                          </a:solidFill>
                        </a:rPr>
                        <a:t>0.0%</a:t>
                      </a:r>
                    </a:p>
                  </a:txBody>
                  <a:tcPr marT="20000" marB="20000" marL="50000" marR="50000" anchor="ctr">
                    <a:solidFill>
                      <a:srgbClr val="FFFFFF"/>
                    </a:solidFill>
                  </a:tcPr>
                </a:tc>
                <a:tc>
                  <a:txBody>
                    <a:bodyPr/>
                    <a:lstStyle/>
                    <a:p>
                      <a:r>
                        <a:rPr sz="1000" b="0">
                          <a:solidFill>
                            <a:srgbClr val="212121"/>
                          </a:solidFill>
                        </a:rPr>
                        <a:t>1%</a:t>
                      </a:r>
                    </a:p>
                  </a:txBody>
                  <a:tcPr marT="20000" marB="20000" marL="50000" marR="50000" anchor="ctr">
                    <a:solidFill>
                      <a:srgbClr val="FFFFFF"/>
                    </a:solidFill>
                  </a:tcPr>
                </a:tc>
                <a:tc>
                  <a:txBody>
                    <a:bodyPr/>
                    <a:lstStyle/>
                    <a:p>
                      <a:r>
                        <a:rPr sz="1000" b="0">
                          <a:solidFill>
                            <a:srgbClr val="212121"/>
                          </a:solidFill>
                        </a:rPr>
                        <a:t>585</a:t>
                      </a:r>
                    </a:p>
                  </a:txBody>
                  <a:tcPr marT="20000" marB="20000" marL="50000" marR="50000" anchor="ctr">
                    <a:solidFill>
                      <a:srgbClr val="FFFFFF"/>
                    </a:solidFill>
                  </a:tcPr>
                </a:tc>
                <a:tc>
                  <a:txBody>
                    <a:bodyPr/>
                    <a:lstStyle/>
                    <a:p>
                      <a:r>
                        <a:rPr sz="1000" b="0">
                          <a:solidFill>
                            <a:srgbClr val="212121"/>
                          </a:solidFill>
                        </a:rPr>
                        <a:t>$0.039</a:t>
                      </a:r>
                    </a:p>
                  </a:txBody>
                  <a:tcPr marT="20000" marB="20000" marL="50000" marR="50000" anchor="ctr">
                    <a:solidFill>
                      <a:srgbClr val="FFFFFF"/>
                    </a:solidFill>
                  </a:tcPr>
                </a:tc>
              </a:tr>
              <a:tr h="310896">
                <a:tc>
                  <a:txBody>
                    <a:bodyPr/>
                    <a:lstStyle/>
                    <a:p>
                      <a:r>
                        <a:rPr sz="1000" b="0">
                          <a:solidFill>
                            <a:srgbClr val="212121"/>
                          </a:solidFill>
                        </a:rPr>
                        <a:t>D ML + spike</a:t>
                      </a:r>
                    </a:p>
                  </a:txBody>
                  <a:tcPr marT="20000" marB="20000" marL="50000" marR="50000" anchor="ctr">
                    <a:solidFill>
                      <a:srgbClr val="F4F4F4"/>
                    </a:solidFill>
                  </a:tcPr>
                </a:tc>
                <a:tc>
                  <a:txBody>
                    <a:bodyPr/>
                    <a:lstStyle/>
                    <a:p>
                      <a:r>
                        <a:rPr sz="1000" b="0">
                          <a:solidFill>
                            <a:srgbClr val="212121"/>
                          </a:solidFill>
                        </a:rPr>
                        <a:t>0.0%</a:t>
                      </a:r>
                    </a:p>
                  </a:txBody>
                  <a:tcPr marT="20000" marB="20000" marL="50000" marR="50000" anchor="ctr">
                    <a:solidFill>
                      <a:srgbClr val="F4F4F4"/>
                    </a:solidFill>
                  </a:tcPr>
                </a:tc>
                <a:tc>
                  <a:txBody>
                    <a:bodyPr/>
                    <a:lstStyle/>
                    <a:p>
                      <a:r>
                        <a:rPr sz="1000" b="0">
                          <a:solidFill>
                            <a:srgbClr val="212121"/>
                          </a:solidFill>
                        </a:rPr>
                        <a:t>20%</a:t>
                      </a:r>
                    </a:p>
                  </a:txBody>
                  <a:tcPr marT="20000" marB="20000" marL="50000" marR="50000" anchor="ctr">
                    <a:solidFill>
                      <a:srgbClr val="F4F4F4"/>
                    </a:solidFill>
                  </a:tcPr>
                </a:tc>
                <a:tc>
                  <a:txBody>
                    <a:bodyPr/>
                    <a:lstStyle/>
                    <a:p>
                      <a:r>
                        <a:rPr sz="1000" b="0">
                          <a:solidFill>
                            <a:srgbClr val="212121"/>
                          </a:solidFill>
                        </a:rPr>
                        <a:t>2618</a:t>
                      </a:r>
                    </a:p>
                  </a:txBody>
                  <a:tcPr marT="20000" marB="20000" marL="50000" marR="50000" anchor="ctr">
                    <a:solidFill>
                      <a:srgbClr val="F4F4F4"/>
                    </a:solidFill>
                  </a:tcPr>
                </a:tc>
                <a:tc>
                  <a:txBody>
                    <a:bodyPr/>
                    <a:lstStyle/>
                    <a:p>
                      <a:r>
                        <a:rPr sz="1000" b="0">
                          <a:solidFill>
                            <a:srgbClr val="212121"/>
                          </a:solidFill>
                        </a:rPr>
                        <a:t>$0.124</a:t>
                      </a:r>
                    </a:p>
                  </a:txBody>
                  <a:tcPr marT="20000" marB="20000" marL="50000" marR="50000" anchor="ctr">
                    <a:solidFill>
                      <a:srgbClr val="F4F4F4"/>
                    </a:solidFill>
                  </a:tcPr>
                </a:tc>
              </a:tr>
            </a:tbl>
          </a:graphicData>
        </a:graphic>
      </p:graphicFrame>
      <p:sp>
        <p:nvSpPr>
          <p:cNvPr id="6" name="TextBox 5"/>
          <p:cNvSpPr txBox="1"/>
          <p:nvPr/>
        </p:nvSpPr>
        <p:spPr>
          <a:xfrm>
            <a:off x="5440680" y="3108960"/>
            <a:ext cx="3291840" cy="1645920"/>
          </a:xfrm>
          <a:prstGeom prst="rect">
            <a:avLst/>
          </a:prstGeom>
          <a:noFill/>
        </p:spPr>
        <p:txBody>
          <a:bodyPr wrap="square">
            <a:spAutoFit/>
          </a:bodyPr>
          <a:lstStyle/>
          <a:p>
            <a:pPr>
              <a:spcAft>
                <a:spcPts val="600"/>
              </a:spcAft>
            </a:pPr>
            <a:r>
              <a:rPr sz="1100">
                <a:solidFill>
                  <a:srgbClr val="212121"/>
                </a:solidFill>
              </a:rPr>
              <a:t>• A ≈ C in cost on a smooth ramp; static base B costs 2.2x</a:t>
            </a:r>
          </a:p>
          <a:p>
            <a:pPr>
              <a:spcAft>
                <a:spcPts val="600"/>
              </a:spcAft>
            </a:pPr>
            <a:r>
              <a:rPr sz="1100">
                <a:solidFill>
                  <a:srgbClr val="212121"/>
                </a:solidFill>
              </a:rPr>
              <a:t>• Spike (D): 0 failed, but 20% slower than 800 ms</a:t>
            </a:r>
          </a:p>
          <a:p>
            <a:pPr>
              <a:spcAft>
                <a:spcPts val="600"/>
              </a:spcAft>
            </a:pPr>
            <a:r>
              <a:rPr sz="1100">
                <a:solidFill>
                  <a:srgbClr val="212121"/>
                </a:solidFill>
              </a:rPr>
              <a:t>• Replay agrees within ~2% for A-C</a:t>
            </a:r>
          </a:p>
          <a:p>
            <a:pPr>
              <a:spcAft>
                <a:spcPts val="600"/>
              </a:spcAft>
            </a:pPr>
            <a:r>
              <a:rPr sz="1100">
                <a:solidFill>
                  <a:srgbClr val="212121"/>
                </a:solidFill>
              </a:rPr>
              <a:t>• Weight changes take ~12 s; launch 29-31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What if the prediction is wrong?</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Under-prediction goes to Lambda: nothing fails, but latency can suffer</a:t>
            </a:r>
          </a:p>
        </p:txBody>
      </p:sp>
      <p:pic>
        <p:nvPicPr>
          <p:cNvPr id="4" name="Picture 3" descr="spike.png"/>
          <p:cNvPicPr>
            <a:picLocks noChangeAspect="1"/>
          </p:cNvPicPr>
          <p:nvPr/>
        </p:nvPicPr>
        <p:blipFill>
          <a:blip r:embed="rId3"/>
          <a:stretch>
            <a:fillRect/>
          </a:stretch>
        </p:blipFill>
        <p:spPr>
          <a:xfrm>
            <a:off x="365760" y="1463040"/>
            <a:ext cx="5486400" cy="2362134"/>
          </a:xfrm>
          <a:prstGeom prst="rect">
            <a:avLst/>
          </a:prstGeom>
        </p:spPr>
      </p:pic>
      <p:sp>
        <p:nvSpPr>
          <p:cNvPr id="5" name="TextBox 4"/>
          <p:cNvSpPr txBox="1"/>
          <p:nvPr/>
        </p:nvSpPr>
        <p:spPr>
          <a:xfrm>
            <a:off x="6035040" y="1463040"/>
            <a:ext cx="2743200" cy="3108960"/>
          </a:xfrm>
          <a:prstGeom prst="rect">
            <a:avLst/>
          </a:prstGeom>
          <a:noFill/>
        </p:spPr>
        <p:txBody>
          <a:bodyPr wrap="square">
            <a:spAutoFit/>
          </a:bodyPr>
          <a:lstStyle/>
          <a:p>
            <a:pPr>
              <a:spcAft>
                <a:spcPts val="600"/>
              </a:spcAft>
            </a:pPr>
            <a:r>
              <a:rPr sz="1200">
                <a:solidFill>
                  <a:srgbClr val="212121"/>
                </a:solidFill>
              </a:rPr>
              <a:t>• Too small base: overflow to Lambda, higher cost, higher latency on cold start</a:t>
            </a:r>
          </a:p>
          <a:p>
            <a:pPr>
              <a:spcAft>
                <a:spcPts val="600"/>
              </a:spcAft>
            </a:pPr>
            <a:r>
              <a:rPr sz="1200">
                <a:solidFill>
                  <a:srgbClr val="212121"/>
                </a:solidFill>
              </a:rPr>
              <a:t>• Too large base: idle containers, wasted money only</a:t>
            </a:r>
          </a:p>
          <a:p>
            <a:pPr>
              <a:spcAft>
                <a:spcPts val="600"/>
              </a:spcAft>
            </a:pPr>
            <a:r>
              <a:rPr sz="1200">
                <a:solidFill>
                  <a:srgbClr val="212121"/>
                </a:solidFill>
              </a:rPr>
              <a:t>• Reactive: under-provisions and drops load</a:t>
            </a:r>
          </a:p>
          <a:p>
            <a:pPr>
              <a:spcAft>
                <a:spcPts val="600"/>
              </a:spcAft>
            </a:pPr>
            <a:r>
              <a:rPr sz="1200">
                <a:solidFill>
                  <a:srgbClr val="212121"/>
                </a:solidFill>
              </a:rPr>
              <a:t>• Live arm D: 0 failed, but 20% of requests slower than 800 ms</a:t>
            </a:r>
          </a:p>
          <a:p>
            <a:pPr>
              <a:spcAft>
                <a:spcPts val="600"/>
              </a:spcAft>
            </a:pPr>
            <a:r>
              <a:rPr sz="1200">
                <a:solidFill>
                  <a:srgbClr val="212121"/>
                </a:solidFill>
              </a:rPr>
              <a:t>• x5 spike (sim): +$4.4k (rolling) / +$5.7k (ML) per month, 0% dropped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Limitations and future work</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Honest boundaries</a:t>
            </a:r>
          </a:p>
        </p:txBody>
      </p:sp>
      <p:sp>
        <p:nvSpPr>
          <p:cNvPr id="4" name="TextBox 3"/>
          <p:cNvSpPr txBox="1"/>
          <p:nvPr/>
        </p:nvSpPr>
        <p:spPr>
          <a:xfrm>
            <a:off x="411480" y="1371600"/>
            <a:ext cx="3931920" cy="3108960"/>
          </a:xfrm>
          <a:prstGeom prst="rect">
            <a:avLst/>
          </a:prstGeom>
          <a:noFill/>
        </p:spPr>
        <p:txBody>
          <a:bodyPr wrap="square">
            <a:spAutoFit/>
          </a:bodyPr>
          <a:lstStyle/>
          <a:p>
            <a:pPr>
              <a:spcAft>
                <a:spcPts val="600"/>
              </a:spcAft>
            </a:pPr>
            <a:r>
              <a:rPr sz="1600">
                <a:solidFill>
                  <a:srgbClr val="212121"/>
                </a:solidFill>
              </a:rPr>
              <a:t>• Azure traffic, AWS prices</a:t>
            </a:r>
          </a:p>
          <a:p>
            <a:pPr>
              <a:spcAft>
                <a:spcPts val="600"/>
              </a:spcAft>
            </a:pPr>
            <a:r>
              <a:rPr sz="1600">
                <a:solidFill>
                  <a:srgbClr val="212121"/>
                </a:solidFill>
              </a:rPr>
              <a:t>• One request type, one instance type, coarse capacity grid</a:t>
            </a:r>
          </a:p>
          <a:p>
            <a:pPr>
              <a:spcAft>
                <a:spcPts val="600"/>
              </a:spcAft>
            </a:pPr>
            <a:r>
              <a:rPr sz="1600">
                <a:solidFill>
                  <a:srgbClr val="212121"/>
                </a:solidFill>
              </a:rPr>
              <a:t>• Short, compressed, single-run live arms</a:t>
            </a:r>
          </a:p>
          <a:p>
            <a:pPr>
              <a:spcAft>
                <a:spcPts val="600"/>
              </a:spcAft>
            </a:pPr>
            <a:r>
              <a:rPr sz="1600">
                <a:solidFill>
                  <a:srgbClr val="212121"/>
                </a:solidFill>
              </a:rPr>
              <a:t>• Energy is an estimate; predictive scaling not run live</a:t>
            </a:r>
          </a:p>
          <a:p>
            <a:pPr>
              <a:spcAft>
                <a:spcPts val="600"/>
              </a:spcAft>
            </a:pPr>
            <a:r>
              <a:rPr sz="1600">
                <a:solidFill>
                  <a:srgbClr val="212121"/>
                </a:solidFill>
              </a:rPr>
              <a:t>• Advantage depends on capacity and Lambda price</a:t>
            </a:r>
          </a:p>
        </p:txBody>
      </p:sp>
      <p:sp>
        <p:nvSpPr>
          <p:cNvPr id="5" name="TextBox 4"/>
          <p:cNvSpPr txBox="1"/>
          <p:nvPr/>
        </p:nvSpPr>
        <p:spPr>
          <a:xfrm>
            <a:off x="4572000" y="1371600"/>
            <a:ext cx="4114800" cy="3108960"/>
          </a:xfrm>
          <a:prstGeom prst="rect">
            <a:avLst/>
          </a:prstGeom>
          <a:noFill/>
        </p:spPr>
        <p:txBody>
          <a:bodyPr wrap="square">
            <a:spAutoFit/>
          </a:bodyPr>
          <a:lstStyle/>
          <a:p>
            <a:pPr>
              <a:spcAft>
                <a:spcPts val="600"/>
              </a:spcAft>
            </a:pPr>
            <a:r>
              <a:rPr sz="1600">
                <a:solidFill>
                  <a:srgbClr val="212121"/>
                </a:solidFill>
              </a:rPr>
              <a:t>• Storage tiering and network cost (out of scope here)</a:t>
            </a:r>
          </a:p>
          <a:p>
            <a:pPr>
              <a:spcAft>
                <a:spcPts val="600"/>
              </a:spcAft>
            </a:pPr>
            <a:r>
              <a:rPr sz="1600">
                <a:solidFill>
                  <a:srgbClr val="212121"/>
                </a:solidFill>
              </a:rPr>
              <a:t>• Fargate base, measured and run live</a:t>
            </a:r>
          </a:p>
          <a:p>
            <a:pPr>
              <a:spcAft>
                <a:spcPts val="600"/>
              </a:spcAft>
            </a:pPr>
            <a:r>
              <a:rPr sz="1600">
                <a:solidFill>
                  <a:srgbClr val="212121"/>
                </a:solidFill>
              </a:rPr>
              <a:t>• Multi-region placement</a:t>
            </a:r>
          </a:p>
          <a:p>
            <a:pPr>
              <a:spcAft>
                <a:spcPts val="600"/>
              </a:spcAft>
            </a:pPr>
            <a:r>
              <a:rPr sz="1600">
                <a:solidFill>
                  <a:srgbClr val="212121"/>
                </a:solidFill>
              </a:rPr>
              <a:t>• Anomaly-aware forecasts</a:t>
            </a:r>
          </a:p>
          <a:p>
            <a:pPr>
              <a:spcAft>
                <a:spcPts val="600"/>
              </a:spcAft>
            </a:pPr>
            <a:r>
              <a:rPr sz="1600">
                <a:solidFill>
                  <a:srgbClr val="212121"/>
                </a:solidFill>
              </a:rPr>
              <a:t>• Overflow-only routing instead of weights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Conclusion</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A principled base, an honest result</a:t>
            </a:r>
          </a:p>
        </p:txBody>
      </p:sp>
      <p:sp>
        <p:nvSpPr>
          <p:cNvPr id="4" name="TextBox 3"/>
          <p:cNvSpPr txBox="1"/>
          <p:nvPr/>
        </p:nvSpPr>
        <p:spPr>
          <a:xfrm>
            <a:off x="411480" y="1371600"/>
            <a:ext cx="8229600" cy="3200400"/>
          </a:xfrm>
          <a:prstGeom prst="rect">
            <a:avLst/>
          </a:prstGeom>
          <a:noFill/>
        </p:spPr>
        <p:txBody>
          <a:bodyPr wrap="square">
            <a:spAutoFit/>
          </a:bodyPr>
          <a:lstStyle/>
          <a:p>
            <a:pPr>
              <a:spcAft>
                <a:spcPts val="600"/>
              </a:spcAft>
            </a:pPr>
            <a:r>
              <a:rPr sz="1800">
                <a:solidFill>
                  <a:srgbClr val="212121"/>
                </a:solidFill>
              </a:rPr>
              <a:t>• Newsvendor rule sets the base; matches brute force</a:t>
            </a:r>
          </a:p>
          <a:p>
            <a:pPr>
              <a:spcAft>
                <a:spcPts val="600"/>
              </a:spcAft>
            </a:pPr>
            <a:r>
              <a:rPr sz="1800">
                <a:solidFill>
                  <a:srgbClr val="212121"/>
                </a:solidFill>
              </a:rPr>
              <a:t>• Hybrid: $32.2k/month, 0% dropped, vs $54.6k all-Lambda and reactive $37.5k with 9.2% dropped</a:t>
            </a:r>
          </a:p>
          <a:p>
            <a:pPr>
              <a:spcAft>
                <a:spcPts val="600"/>
              </a:spcAft>
            </a:pPr>
            <a:r>
              <a:rPr sz="1800">
                <a:solidFill>
                  <a:srgbClr val="212121"/>
                </a:solidFill>
              </a:rPr>
              <a:t>• ML forecaster ≈ rolling quantile (reported plainly)</a:t>
            </a:r>
          </a:p>
          <a:p>
            <a:pPr>
              <a:spcAft>
                <a:spcPts val="600"/>
              </a:spcAft>
            </a:pPr>
            <a:r>
              <a:rPr sz="1800">
                <a:solidFill>
                  <a:srgbClr val="212121"/>
                </a:solidFill>
              </a:rPr>
              <a:t>• Hybrid saves cost, not energy (estimate)</a:t>
            </a:r>
          </a:p>
          <a:p>
            <a:pPr>
              <a:spcAft>
                <a:spcPts val="600"/>
              </a:spcAft>
            </a:pPr>
            <a:r>
              <a:rPr sz="1800">
                <a:solidFill>
                  <a:srgbClr val="212121"/>
                </a:solidFill>
              </a:rPr>
              <a:t>• Live AWS runs: mechanism works; A ≈ C in cost on a smooth ramp; spike hurt latency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Backup: cost-model assumptions</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Backup</a:t>
            </a:r>
          </a:p>
        </p:txBody>
      </p:sp>
      <p:graphicFrame>
        <p:nvGraphicFramePr>
          <p:cNvPr id="4" name="Table 3"/>
          <p:cNvGraphicFramePr>
            <a:graphicFrameLocks noGrp="1"/>
          </p:cNvGraphicFramePr>
          <p:nvPr/>
        </p:nvGraphicFramePr>
        <p:xfrm>
          <a:off x="411480" y="1371600"/>
          <a:ext cx="7132320" cy="3072384"/>
        </p:xfrm>
        <a:graphic>
          <a:graphicData uri="http://schemas.openxmlformats.org/drawingml/2006/table">
            <a:tbl>
              <a:tblPr firstRow="1" bandRow="1">
                <a:tableStyleId>{5C22544A-7EE6-4342-B048-85BDC9FD1C3A}</a:tableStyleId>
              </a:tblPr>
              <a:tblGrid>
                <a:gridCol w="2560320"/>
                <a:gridCol w="4572000"/>
              </a:tblGrid>
              <a:tr h="384048">
                <a:tc>
                  <a:txBody>
                    <a:bodyPr/>
                    <a:lstStyle/>
                    <a:p>
                      <a:r>
                        <a:rPr sz="1300" b="1">
                          <a:solidFill>
                            <a:srgbClr val="FFFFFF"/>
                          </a:solidFill>
                        </a:rPr>
                        <a:t>Item</a:t>
                      </a:r>
                    </a:p>
                  </a:txBody>
                  <a:tcPr marT="20000" marB="20000" marL="50000" marR="50000" anchor="ctr">
                    <a:solidFill>
                      <a:srgbClr val="B7202E"/>
                    </a:solidFill>
                  </a:tcPr>
                </a:tc>
                <a:tc>
                  <a:txBody>
                    <a:bodyPr/>
                    <a:lstStyle/>
                    <a:p>
                      <a:r>
                        <a:rPr sz="1300" b="1">
                          <a:solidFill>
                            <a:srgbClr val="FFFFFF"/>
                          </a:solidFill>
                        </a:rPr>
                        <a:t>Value</a:t>
                      </a:r>
                    </a:p>
                  </a:txBody>
                  <a:tcPr marT="20000" marB="20000" marL="50000" marR="50000" anchor="ctr">
                    <a:solidFill>
                      <a:srgbClr val="B7202E"/>
                    </a:solidFill>
                  </a:tcPr>
                </a:tc>
              </a:tr>
              <a:tr h="384048">
                <a:tc>
                  <a:txBody>
                    <a:bodyPr/>
                    <a:lstStyle/>
                    <a:p>
                      <a:r>
                        <a:rPr sz="1300" b="0">
                          <a:solidFill>
                            <a:srgbClr val="212121"/>
                          </a:solidFill>
                        </a:rPr>
                        <a:t>Lambda duration</a:t>
                      </a:r>
                    </a:p>
                  </a:txBody>
                  <a:tcPr marT="20000" marB="20000" marL="50000" marR="50000" anchor="ctr">
                    <a:solidFill>
                      <a:srgbClr val="FFFFFF"/>
                    </a:solidFill>
                  </a:tcPr>
                </a:tc>
                <a:tc>
                  <a:txBody>
                    <a:bodyPr/>
                    <a:lstStyle/>
                    <a:p>
                      <a:r>
                        <a:rPr sz="1300" b="0">
                          <a:solidFill>
                            <a:srgbClr val="212121"/>
                          </a:solidFill>
                        </a:rPr>
                        <a:t>$0.0000167 per GB-s</a:t>
                      </a:r>
                    </a:p>
                  </a:txBody>
                  <a:tcPr marT="20000" marB="20000" marL="50000" marR="50000" anchor="ctr">
                    <a:solidFill>
                      <a:srgbClr val="FFFFFF"/>
                    </a:solidFill>
                  </a:tcPr>
                </a:tc>
              </a:tr>
              <a:tr h="384048">
                <a:tc>
                  <a:txBody>
                    <a:bodyPr/>
                    <a:lstStyle/>
                    <a:p>
                      <a:r>
                        <a:rPr sz="1300" b="0">
                          <a:solidFill>
                            <a:srgbClr val="212121"/>
                          </a:solidFill>
                        </a:rPr>
                        <a:t>Lambda requests</a:t>
                      </a:r>
                    </a:p>
                  </a:txBody>
                  <a:tcPr marT="20000" marB="20000" marL="50000" marR="50000" anchor="ctr">
                    <a:solidFill>
                      <a:srgbClr val="F4F4F4"/>
                    </a:solidFill>
                  </a:tcPr>
                </a:tc>
                <a:tc>
                  <a:txBody>
                    <a:bodyPr/>
                    <a:lstStyle/>
                    <a:p>
                      <a:r>
                        <a:rPr sz="1300" b="0">
                          <a:solidFill>
                            <a:srgbClr val="212121"/>
                          </a:solidFill>
                        </a:rPr>
                        <a:t>$0.0000002 per request</a:t>
                      </a:r>
                    </a:p>
                  </a:txBody>
                  <a:tcPr marT="20000" marB="20000" marL="50000" marR="50000" anchor="ctr">
                    <a:solidFill>
                      <a:srgbClr val="F4F4F4"/>
                    </a:solidFill>
                  </a:tcPr>
                </a:tc>
              </a:tr>
              <a:tr h="384048">
                <a:tc>
                  <a:txBody>
                    <a:bodyPr/>
                    <a:lstStyle/>
                    <a:p>
                      <a:r>
                        <a:rPr sz="1300" b="0">
                          <a:solidFill>
                            <a:srgbClr val="212121"/>
                          </a:solidFill>
                        </a:rPr>
                        <a:t>EC2 t3.medium</a:t>
                      </a:r>
                    </a:p>
                  </a:txBody>
                  <a:tcPr marT="20000" marB="20000" marL="50000" marR="50000" anchor="ctr">
                    <a:solidFill>
                      <a:srgbClr val="FFFFFF"/>
                    </a:solidFill>
                  </a:tcPr>
                </a:tc>
                <a:tc>
                  <a:txBody>
                    <a:bodyPr/>
                    <a:lstStyle/>
                    <a:p>
                      <a:r>
                        <a:rPr sz="1300" b="0">
                          <a:solidFill>
                            <a:srgbClr val="212121"/>
                          </a:solidFill>
                        </a:rPr>
                        <a:t>$0.0448 per hour</a:t>
                      </a:r>
                    </a:p>
                  </a:txBody>
                  <a:tcPr marT="20000" marB="20000" marL="50000" marR="50000" anchor="ctr">
                    <a:solidFill>
                      <a:srgbClr val="FFFFFF"/>
                    </a:solidFill>
                  </a:tcPr>
                </a:tc>
              </a:tr>
              <a:tr h="384048">
                <a:tc>
                  <a:txBody>
                    <a:bodyPr/>
                    <a:lstStyle/>
                    <a:p>
                      <a:r>
                        <a:rPr sz="1300" b="0">
                          <a:solidFill>
                            <a:srgbClr val="212121"/>
                          </a:solidFill>
                        </a:rPr>
                        <a:t>Fargate vCPU / GB</a:t>
                      </a:r>
                    </a:p>
                  </a:txBody>
                  <a:tcPr marT="20000" marB="20000" marL="50000" marR="50000" anchor="ctr">
                    <a:solidFill>
                      <a:srgbClr val="F4F4F4"/>
                    </a:solidFill>
                  </a:tcPr>
                </a:tc>
                <a:tc>
                  <a:txBody>
                    <a:bodyPr/>
                    <a:lstStyle/>
                    <a:p>
                      <a:r>
                        <a:rPr sz="1300" b="0">
                          <a:solidFill>
                            <a:srgbClr val="212121"/>
                          </a:solidFill>
                        </a:rPr>
                        <a:t>$0.04256 / $0.004655 per hour</a:t>
                      </a:r>
                    </a:p>
                  </a:txBody>
                  <a:tcPr marT="20000" marB="20000" marL="50000" marR="50000" anchor="ctr">
                    <a:solidFill>
                      <a:srgbClr val="F4F4F4"/>
                    </a:solidFill>
                  </a:tcPr>
                </a:tc>
              </a:tr>
              <a:tr h="384048">
                <a:tc>
                  <a:txBody>
                    <a:bodyPr/>
                    <a:lstStyle/>
                    <a:p>
                      <a:r>
                        <a:rPr sz="1300" b="0">
                          <a:solidFill>
                            <a:srgbClr val="212121"/>
                          </a:solidFill>
                        </a:rPr>
                        <a:t>EC2 capacity unit</a:t>
                      </a:r>
                    </a:p>
                  </a:txBody>
                  <a:tcPr marT="20000" marB="20000" marL="50000" marR="50000" anchor="ctr">
                    <a:solidFill>
                      <a:srgbClr val="FFFFFF"/>
                    </a:solidFill>
                  </a:tcPr>
                </a:tc>
                <a:tc>
                  <a:txBody>
                    <a:bodyPr/>
                    <a:lstStyle/>
                    <a:p>
                      <a:r>
                        <a:rPr sz="1300" b="0">
                          <a:solidFill>
                            <a:srgbClr val="212121"/>
                          </a:solidFill>
                        </a:rPr>
                        <a:t>6.4 concurrent requests (measured; assumed 16)</a:t>
                      </a:r>
                    </a:p>
                  </a:txBody>
                  <a:tcPr marT="20000" marB="20000" marL="50000" marR="50000" anchor="ctr">
                    <a:solidFill>
                      <a:srgbClr val="FFFFFF"/>
                    </a:solidFill>
                  </a:tcPr>
                </a:tc>
              </a:tr>
              <a:tr h="384048">
                <a:tc>
                  <a:txBody>
                    <a:bodyPr/>
                    <a:lstStyle/>
                    <a:p>
                      <a:r>
                        <a:rPr sz="1300" b="0">
                          <a:solidFill>
                            <a:srgbClr val="212121"/>
                          </a:solidFill>
                        </a:rPr>
                        <a:t>Fargate capacity unit</a:t>
                      </a:r>
                    </a:p>
                  </a:txBody>
                  <a:tcPr marT="20000" marB="20000" marL="50000" marR="50000" anchor="ctr">
                    <a:solidFill>
                      <a:srgbClr val="F4F4F4"/>
                    </a:solidFill>
                  </a:tcPr>
                </a:tc>
                <a:tc>
                  <a:txBody>
                    <a:bodyPr/>
                    <a:lstStyle/>
                    <a:p>
                      <a:r>
                        <a:rPr sz="1300" b="0">
                          <a:solidFill>
                            <a:srgbClr val="212121"/>
                          </a:solidFill>
                        </a:rPr>
                        <a:t>4 concurrent requests (assumed)</a:t>
                      </a:r>
                    </a:p>
                  </a:txBody>
                  <a:tcPr marT="20000" marB="20000" marL="50000" marR="50000" anchor="ctr">
                    <a:solidFill>
                      <a:srgbClr val="F4F4F4"/>
                    </a:solidFill>
                  </a:tcPr>
                </a:tc>
              </a:tr>
              <a:tr h="384048">
                <a:tc>
                  <a:txBody>
                    <a:bodyPr/>
                    <a:lstStyle/>
                    <a:p>
                      <a:r>
                        <a:rPr sz="1300" b="0">
                          <a:solidFill>
                            <a:srgbClr val="212121"/>
                          </a:solidFill>
                        </a:rPr>
                        <a:t>Prices retrieved</a:t>
                      </a:r>
                    </a:p>
                  </a:txBody>
                  <a:tcPr marT="20000" marB="20000" marL="50000" marR="50000" anchor="ctr">
                    <a:solidFill>
                      <a:srgbClr val="FFFFFF"/>
                    </a:solidFill>
                  </a:tcPr>
                </a:tc>
                <a:tc>
                  <a:txBody>
                    <a:bodyPr/>
                    <a:lstStyle/>
                    <a:p>
                      <a:r>
                        <a:rPr sz="1300" b="0">
                          <a:solidFill>
                            <a:srgbClr val="212121"/>
                          </a:solidFill>
                        </a:rPr>
                        <a:t>2026-10-24</a:t>
                      </a:r>
                    </a:p>
                  </a:txBody>
                  <a:tcPr marT="20000" marB="20000" marL="50000" marR="5000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B7202E"/>
                </a:solidFill>
              </a:rPr>
              <a:t>Backup: sensitivity</a:t>
            </a:r>
          </a:p>
        </p:txBody>
      </p:sp>
      <p:sp>
        <p:nvSpPr>
          <p:cNvPr id="3" name="TextBox 2"/>
          <p:cNvSpPr txBox="1"/>
          <p:nvPr/>
        </p:nvSpPr>
        <p:spPr>
          <a:xfrm>
            <a:off x="329184" y="822960"/>
            <a:ext cx="7223760" cy="292608"/>
          </a:xfrm>
          <a:prstGeom prst="rect">
            <a:avLst/>
          </a:prstGeom>
          <a:noFill/>
        </p:spPr>
        <p:txBody>
          <a:bodyPr wrap="square">
            <a:spAutoFit/>
          </a:bodyPr>
          <a:lstStyle/>
          <a:p>
            <a:r>
              <a:rPr sz="1200" i="1">
                <a:solidFill>
                  <a:srgbClr val="58595B"/>
                </a:solidFill>
              </a:rPr>
              <a:t>Backup</a:t>
            </a:r>
          </a:p>
        </p:txBody>
      </p:sp>
      <p:pic>
        <p:nvPicPr>
          <p:cNvPr id="4" name="Picture 3" descr="sensitivity.png"/>
          <p:cNvPicPr>
            <a:picLocks noChangeAspect="1"/>
          </p:cNvPicPr>
          <p:nvPr/>
        </p:nvPicPr>
        <p:blipFill>
          <a:blip r:embed="rId3"/>
          <a:stretch>
            <a:fillRect/>
          </a:stretch>
        </p:blipFill>
        <p:spPr>
          <a:xfrm>
            <a:off x="365760" y="1371600"/>
            <a:ext cx="5120640" cy="2476617"/>
          </a:xfrm>
          <a:prstGeom prst="rect">
            <a:avLst/>
          </a:prstGeom>
        </p:spPr>
      </p:pic>
      <p:sp>
        <p:nvSpPr>
          <p:cNvPr id="5" name="TextBox 4"/>
          <p:cNvSpPr txBox="1"/>
          <p:nvPr/>
        </p:nvSpPr>
        <p:spPr>
          <a:xfrm>
            <a:off x="5669280" y="1554480"/>
            <a:ext cx="3017520" cy="2743200"/>
          </a:xfrm>
          <a:prstGeom prst="rect">
            <a:avLst/>
          </a:prstGeom>
          <a:noFill/>
        </p:spPr>
        <p:txBody>
          <a:bodyPr wrap="square">
            <a:spAutoFit/>
          </a:bodyPr>
          <a:lstStyle/>
          <a:p>
            <a:pPr>
              <a:spcAft>
                <a:spcPts val="600"/>
              </a:spcAft>
            </a:pPr>
            <a:r>
              <a:rPr sz="1200">
                <a:solidFill>
                  <a:srgbClr val="212121"/>
                </a:solidFill>
              </a:rPr>
              <a:t>• Capacity x0.5: saves 8% vs all-Lambda</a:t>
            </a:r>
          </a:p>
          <a:p>
            <a:pPr>
              <a:spcAft>
                <a:spcPts val="600"/>
              </a:spcAft>
            </a:pPr>
            <a:r>
              <a:rPr sz="1200">
                <a:solidFill>
                  <a:srgbClr val="212121"/>
                </a:solidFill>
              </a:rPr>
              <a:t>• Lambda price x0.5: saves 8%</a:t>
            </a:r>
          </a:p>
          <a:p>
            <a:pPr>
              <a:spcAft>
                <a:spcPts val="600"/>
              </a:spcAft>
            </a:pPr>
            <a:r>
              <a:rPr sz="1200">
                <a:solidFill>
                  <a:srgbClr val="212121"/>
                </a:solidFill>
              </a:rPr>
              <a:t>• Assumed capacity 16: $17.0k vs $53.8k</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K J Somaiya Institute of Management PPT">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CostScale: ML-driven hybrid container and serverless resource management on AWS</dc:title>
  <cp:lastModifiedBy>Anamay Narkar, Ananya Dhiman, Anoushka Nelson</cp:lastModifiedBy>
  <cp:revision>1</cp:revision>
  <dcterms:modified xsi:type="dcterms:W3CDTF">2026-10-24T17:28:05Z</dcterms:modified>
  <dc:creator>Anamay Narkar, Ananya Dhiman, Anoushka Nelson</dc:creator>
</cp:coreProperties>
</file>