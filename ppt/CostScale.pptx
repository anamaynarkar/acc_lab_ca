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in one sentence: a resource manager that keeps a cheap base of EC2 sized by a forecast and sends the rest to Lambda. Mention it is a university cloud-computing project, built and measured on AWS in Mumbai, using a real production trace from Azure. Names and IDs are to be filled 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buy compute: reserved containers or VMs are cheap per unit but need lead time; Lambda is instant and pay per use but costs several times more per unit of work. Traffic varies, so sizing for peak wastes money and reacting late drops or delays requests. The task: predict workload and allocate resources. Rubric items: inputs and features, algorithm and horizon, allocation mechanism, evaluation on accuracy, utilisation, latency, cost and energy, and what happens when the prediction is wrong.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Reactive autoscaling sizes capacity from load it saw five minutes ago at a target utilisation u. In the simulation, every u we tried leaves load unserved because there is no fallback: u 0.7 costs $37.5k and drops 9.2 percent; u 0.3 costs $87.5k and still drops 6.8 percent. The hybrid in the bottom-left corner of the chart serves everything for $32.2k. The seasonal line is an emulation of predictive-scaling style capacity from the same hour on previous days, not the AWS algorithm.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a base of always-on EC2 capacity. Everything above the base goes to Lambda. The base is the quantile of forecast load whose level is q-star equals one minus f over L, where f is the container cost and L the Lambda cost of the same unit of load for a minute. If L is not above f the base is zero. We checked the rule against brute-force search per function and hour: the difference is -0.0013 percent. Forecasting sets the slow thing, instance count; a per-minute loop sets ALB weights.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Azure Functions 2019 trace, CC-BY, from Shahrad et al., USENIX ATC 2020. Fourteen days of per-minute invocations, with durations and memory. Most functions are rarely invoked, the median function on day one gets 32 invocations, so we filter. We keep functions present on all 14 days with at least 5 requests per minute: 2,127, of which 2,066 also have duration and memory. A function is heavy if its cheaper single-platform option costs at least 50 dollars per month on training days. Load is concurrency: invocations per minute over 60 times average duration. Azure traffic is priced with AWS prices. Split is chronological per function: days 1-10 train, 11-12 validation, 13-14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global LightGBM model per quantile, objective quantile, trained across all heavy functions with load normalised per function. Horizon: next hour, decided at the start of the hour. Features come only from before the decision time: last hour and last six hours mean, max and 90th percentile; same hour yesterday; hour of day; trigger; and the function's level. The safety margin was chosen on validation by minimising decision cost, and came out as 1.0, so none. Baselines: persistence, rolling six-hour quantile, seasonal naive and static training quantile. Accuracy: LightGBM is best at the upper quantiles and tracks coverage; persistence is better at the median. The decision-cost result is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local controller does two jobs. Every decision interval it takes the forecast quantile at q-star and sets the ASG desired capacity. Every minute it reads the observed request rate and sets the ALB weights: the EC2 share is the minimum of one and healthy capacity over observed rate, in integer weights from 0 to 999. The ALB splits by percentage, not overflow-only, so the live system leaks relative to the simulator; we measure that. Everything is tagged project equals costscale, default VPC, no NAT gateway, no RDS, and one make down destroys it and verifies with the tagging API.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days 13 and 14 scaled to 30 days, EC2 base, container capacity measured on AWS. Hybrid rolling costs $32.2k, 41 percent below all-Lambda and 14 percent below reactive at u 0.7, which also drops 9.2 percent of load. Plainly: the ML forecaster is only 0.25 percent cheaper than the rolling six-hour quantile on test, and the whole headroom to the oracle is 5.4 percent. Energy, by an estimate based on the Cloud Carbon Footprint method, is lowest for all-Lambda: the hybrid saves money, not energy. Under the earlier assumed capacity of 16 the saving was larger; measured capacity is 6.4.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results pending.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Under-prediction is cheap by design: the excess goes to Lambda, nothing is dropped. Over-prediction wastes f per idle unit-minute until the next decision. A reactive controller is wrong in the damaging way. In simulation we multiplied one hour per function by 3, 4 or 5 after the forecast was made: the hybrids served everything; a x5 spike adds $4.4k to $5.7k per month. The ML forecaster over-reacts after a spike because its features include the spiked hour; a production system would clip forecasts after an anomaly. Live arm D repeated this on AWS.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Azure traffic is priced with AWS prices. Capacity is measured for one synthetic request on one instance type from a coarse grid. Live arms are short, time-compressed, single runs from one laptop. Energy is an estimate. AWS predictive scaling was not run live because it needs 24 hours of history. The hybrid advantage depends on measured capacity and Lambda price. Future work: storage tiering, network cost, a Fargate base, multi-region, anomaly-aware forecasting, and overflow-only routing.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The newsvendor rule gives a principled base size and matches brute force. In simulation the hybrid serves all load at $32.2k per month against $54.6k all-Lambda and $37.5k reactive with 9.2 percent dropped. The ML forecaster adds almost nothing over a rolling quantile, and by an estimate the hybrid does not save energy. The live AWS runs are reconciled with a simulator replay. Thank the audience and invite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Prices from the AWS Price List API for ap-south-1, retrieved on the date shown. Azure traffic is priced with AWS prices. Lambda memory is the larger of 128 MB and the application's memory. Container capacity is the measured value for EC2; the Fargate capacity is assumed.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Hybrid-rolling cost relative to all-Lambda under each scenario. The advantage is large when containers carry more load per unit or Lambda is dearer, and small when capacity per unit is halved or Lambda is half price. The EC2 discount scenario is hypothetical, not an AWS-quoted figure.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000" b="1">
                <a:solidFill>
                  <a:srgbClr val="0B0B0B"/>
                </a:solidFill>
                <a:latin typeface="Calibri"/>
              </a:rPr>
              <a:t/>
            </a:r>
          </a:p>
          <a:p>
            <a:r>
              <a:rPr sz="1500">
                <a:solidFill>
                  <a:srgbClr val="52514E"/>
                </a:solidFill>
                <a:latin typeface="Calibri"/>
              </a:rPr>
              <a:t>ML-driven hybrid container and serverless resource management on AWS</a:t>
            </a:r>
          </a:p>
        </p:txBody>
      </p:sp>
      <p:sp>
        <p:nvSpPr>
          <p:cNvPr id="4" name="TextBox 3"/>
          <p:cNvSpPr txBox="1"/>
          <p:nvPr/>
        </p:nvSpPr>
        <p:spPr>
          <a:xfrm>
            <a:off x="822960" y="1280160"/>
            <a:ext cx="10515600" cy="1463040"/>
          </a:xfrm>
          <a:prstGeom prst="rect">
            <a:avLst/>
          </a:prstGeom>
          <a:noFill/>
        </p:spPr>
        <p:txBody>
          <a:bodyPr wrap="none">
            <a:spAutoFit/>
          </a:bodyPr>
          <a:lstStyle/>
          <a:p>
            <a:r>
              <a:rPr sz="6600" b="1">
                <a:solidFill>
                  <a:srgbClr val="0B0B0B"/>
                </a:solidFill>
                <a:latin typeface="Calibri"/>
              </a:rPr>
              <a:t>CostScale</a:t>
            </a:r>
          </a:p>
        </p:txBody>
      </p:sp>
      <p:sp>
        <p:nvSpPr>
          <p:cNvPr id="5" name="TextBox 4"/>
          <p:cNvSpPr txBox="1"/>
          <p:nvPr/>
        </p:nvSpPr>
        <p:spPr>
          <a:xfrm>
            <a:off x="822960" y="2651760"/>
            <a:ext cx="10515600" cy="822960"/>
          </a:xfrm>
          <a:prstGeom prst="rect">
            <a:avLst/>
          </a:prstGeom>
          <a:noFill/>
        </p:spPr>
        <p:txBody>
          <a:bodyPr wrap="square">
            <a:spAutoFit/>
          </a:bodyPr>
          <a:lstStyle/>
          <a:p>
            <a:r>
              <a:rPr sz="2600">
                <a:solidFill>
                  <a:srgbClr val="2A78D6"/>
                </a:solidFill>
                <a:latin typeface="Calibri"/>
              </a:rPr>
              <a:t>ML-driven hybrid container and serverless resource management on AWS</a:t>
            </a:r>
          </a:p>
        </p:txBody>
      </p:sp>
      <p:sp>
        <p:nvSpPr>
          <p:cNvPr id="6" name="TextBox 5"/>
          <p:cNvSpPr txBox="1"/>
          <p:nvPr/>
        </p:nvSpPr>
        <p:spPr>
          <a:xfrm>
            <a:off x="822960" y="3931920"/>
            <a:ext cx="5669280" cy="4754880"/>
          </a:xfrm>
          <a:prstGeom prst="rect">
            <a:avLst/>
          </a:prstGeom>
          <a:noFill/>
        </p:spPr>
        <p:txBody>
          <a:bodyPr wrap="square">
            <a:spAutoFit/>
          </a:bodyPr>
          <a:lstStyle/>
          <a:p>
            <a:pPr>
              <a:spcAft>
                <a:spcPts val="800"/>
              </a:spcAft>
            </a:pPr>
            <a:r>
              <a:rPr sz="2000">
                <a:solidFill>
                  <a:srgbClr val="0B0B0B"/>
                </a:solidFill>
                <a:latin typeface="Calibri"/>
              </a:rPr>
              <a:t>• [TO FILL: student names and IDs]</a:t>
            </a:r>
          </a:p>
          <a:p>
            <a:pPr>
              <a:spcAft>
                <a:spcPts val="800"/>
              </a:spcAft>
            </a:pPr>
            <a:r>
              <a:rPr sz="2000">
                <a:solidFill>
                  <a:srgbClr val="0B0B0B"/>
                </a:solidFill>
                <a:latin typeface="Calibri"/>
              </a:rPr>
              <a:t>• [TO FILL: programme, institute, course]</a:t>
            </a:r>
          </a:p>
          <a:p>
            <a:pPr>
              <a:spcAft>
                <a:spcPts val="800"/>
              </a:spcAft>
            </a:pPr>
            <a:r>
              <a:rPr sz="2000">
                <a:solidFill>
                  <a:srgbClr val="0B0B0B"/>
                </a:solidFill>
                <a:latin typeface="Calibri"/>
              </a:rPr>
              <a:t>•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000" b="1">
                <a:solidFill>
                  <a:srgbClr val="0B0B0B"/>
                </a:solidFill>
                <a:latin typeface="Calibri"/>
              </a:rPr>
              <a:t>The problem</a:t>
            </a:r>
          </a:p>
          <a:p>
            <a:r>
              <a:rPr sz="1500">
                <a:solidFill>
                  <a:srgbClr val="52514E"/>
                </a:solidFill>
                <a:latin typeface="Calibri"/>
              </a:rPr>
              <a:t>Predict workload, then allocate resources</a:t>
            </a:r>
          </a:p>
        </p:txBody>
      </p:sp>
      <p:sp>
        <p:nvSpPr>
          <p:cNvPr id="4" name="TextBox 3"/>
          <p:cNvSpPr txBox="1"/>
          <p:nvPr/>
        </p:nvSpPr>
        <p:spPr>
          <a:xfrm>
            <a:off x="548640" y="1554480"/>
            <a:ext cx="5852160" cy="4754880"/>
          </a:xfrm>
          <a:prstGeom prst="rect">
            <a:avLst/>
          </a:prstGeom>
          <a:noFill/>
        </p:spPr>
        <p:txBody>
          <a:bodyPr wrap="square">
            <a:spAutoFit/>
          </a:bodyPr>
          <a:lstStyle/>
          <a:p>
            <a:pPr>
              <a:spcAft>
                <a:spcPts val="800"/>
              </a:spcAft>
            </a:pPr>
            <a:r>
              <a:rPr sz="1800">
                <a:solidFill>
                  <a:srgbClr val="0B0B0B"/>
                </a:solidFill>
                <a:latin typeface="Calibri"/>
              </a:rPr>
              <a:t>• Containers / VMs: cheap per unit, but slow to provision</a:t>
            </a:r>
          </a:p>
          <a:p>
            <a:pPr>
              <a:spcAft>
                <a:spcPts val="800"/>
              </a:spcAft>
            </a:pPr>
            <a:r>
              <a:rPr sz="1800">
                <a:solidFill>
                  <a:srgbClr val="0B0B0B"/>
                </a:solidFill>
                <a:latin typeface="Calibri"/>
              </a:rPr>
              <a:t>• Lambda: instant, pay per use, several times costlier per unit</a:t>
            </a:r>
          </a:p>
          <a:p>
            <a:pPr>
              <a:spcAft>
                <a:spcPts val="800"/>
              </a:spcAft>
            </a:pPr>
            <a:r>
              <a:rPr sz="1800">
                <a:solidFill>
                  <a:srgbClr val="0B0B0B"/>
                </a:solidFill>
                <a:latin typeface="Calibri"/>
              </a:rPr>
              <a:t>• Load varies; most functions are idle, a few are very busy</a:t>
            </a:r>
          </a:p>
          <a:p>
            <a:pPr>
              <a:spcAft>
                <a:spcPts val="800"/>
              </a:spcAft>
            </a:pPr>
            <a:r>
              <a:rPr sz="1800">
                <a:solidFill>
                  <a:srgbClr val="0B0B0B"/>
                </a:solidFill>
                <a:latin typeface="Calibri"/>
              </a:rPr>
              <a:t>• Goal: lowest cost while serving every request in time</a:t>
            </a:r>
          </a:p>
        </p:txBody>
      </p:sp>
      <p:sp>
        <p:nvSpPr>
          <p:cNvPr id="5" name="TextBox 4"/>
          <p:cNvSpPr txBox="1"/>
          <p:nvPr/>
        </p:nvSpPr>
        <p:spPr>
          <a:xfrm>
            <a:off x="6949440" y="1737360"/>
            <a:ext cx="2651760" cy="1280160"/>
          </a:xfrm>
          <a:prstGeom prst="rect">
            <a:avLst/>
          </a:prstGeom>
          <a:noFill/>
        </p:spPr>
        <p:txBody>
          <a:bodyPr wrap="square">
            <a:spAutoFit/>
          </a:bodyPr>
          <a:lstStyle/>
          <a:p>
            <a:r>
              <a:rPr sz="3600" b="1">
                <a:solidFill>
                  <a:srgbClr val="2A78D6"/>
                </a:solidFill>
                <a:latin typeface="Calibri"/>
              </a:rPr>
              <a:t>101</a:t>
            </a:r>
          </a:p>
          <a:p>
            <a:r>
              <a:rPr sz="1300">
                <a:solidFill>
                  <a:srgbClr val="52514E"/>
                </a:solidFill>
                <a:latin typeface="Calibri"/>
              </a:rPr>
              <a:t>heavy Azure functions simulated
(&gt;= $50/month on training days)</a:t>
            </a:r>
          </a:p>
        </p:txBody>
      </p:sp>
      <p:sp>
        <p:nvSpPr>
          <p:cNvPr id="6" name="TextBox 5"/>
          <p:cNvSpPr txBox="1"/>
          <p:nvPr/>
        </p:nvSpPr>
        <p:spPr>
          <a:xfrm>
            <a:off x="6949440" y="3291840"/>
            <a:ext cx="2651760" cy="1280160"/>
          </a:xfrm>
          <a:prstGeom prst="rect">
            <a:avLst/>
          </a:prstGeom>
          <a:noFill/>
        </p:spPr>
        <p:txBody>
          <a:bodyPr wrap="square">
            <a:spAutoFit/>
          </a:bodyPr>
          <a:lstStyle/>
          <a:p>
            <a:r>
              <a:rPr sz="3600" b="1">
                <a:solidFill>
                  <a:srgbClr val="EB6834"/>
                </a:solidFill>
                <a:latin typeface="Calibri"/>
              </a:rPr>
              <a:t>28,859</a:t>
            </a:r>
          </a:p>
          <a:p>
            <a:r>
              <a:rPr sz="1300">
                <a:solidFill>
                  <a:srgbClr val="52514E"/>
                </a:solidFill>
                <a:latin typeface="Calibri"/>
              </a:rPr>
              <a:t>functions present on all 14 days
(of 72k in the trace)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000" b="1">
                <a:solidFill>
                  <a:srgbClr val="0B0B0B"/>
                </a:solidFill>
                <a:latin typeface="Calibri"/>
              </a:rPr>
              <a:t>Why plain autoscaling is not enough</a:t>
            </a:r>
          </a:p>
          <a:p>
            <a:r>
              <a:rPr sz="1500">
                <a:solidFill>
                  <a:srgbClr val="52514E"/>
                </a:solidFill>
                <a:latin typeface="Calibri"/>
              </a:rPr>
              <a:t>Every reactive setting drops load or overpays</a:t>
            </a:r>
          </a:p>
        </p:txBody>
      </p:sp>
      <p:pic>
        <p:nvPicPr>
          <p:cNvPr id="4" name="Picture 3" descr="unserved_vs_cost.png"/>
          <p:cNvPicPr>
            <a:picLocks noChangeAspect="1"/>
          </p:cNvPicPr>
          <p:nvPr/>
        </p:nvPicPr>
        <p:blipFill>
          <a:blip r:embed="rId3"/>
          <a:stretch>
            <a:fillRect/>
          </a:stretch>
        </p:blipFill>
        <p:spPr>
          <a:xfrm>
            <a:off x="365760" y="1554480"/>
            <a:ext cx="7315200" cy="4450962"/>
          </a:xfrm>
          <a:prstGeom prst="rect">
            <a:avLst/>
          </a:prstGeom>
        </p:spPr>
      </p:pic>
      <p:sp>
        <p:nvSpPr>
          <p:cNvPr id="5" name="TextBox 4"/>
          <p:cNvSpPr txBox="1"/>
          <p:nvPr/>
        </p:nvSpPr>
        <p:spPr>
          <a:xfrm>
            <a:off x="7863840" y="1828800"/>
            <a:ext cx="4114800" cy="4754880"/>
          </a:xfrm>
          <a:prstGeom prst="rect">
            <a:avLst/>
          </a:prstGeom>
          <a:noFill/>
        </p:spPr>
        <p:txBody>
          <a:bodyPr wrap="square">
            <a:spAutoFit/>
          </a:bodyPr>
          <a:lstStyle/>
          <a:p>
            <a:pPr>
              <a:spcAft>
                <a:spcPts val="800"/>
              </a:spcAft>
            </a:pPr>
            <a:r>
              <a:rPr sz="1700">
                <a:solidFill>
                  <a:srgbClr val="0B0B0B"/>
                </a:solidFill>
                <a:latin typeface="Calibri"/>
              </a:rPr>
              <a:t>• Reactive u=0.7: $37.5k, 9.2% load dropped</a:t>
            </a:r>
          </a:p>
          <a:p>
            <a:pPr>
              <a:spcAft>
                <a:spcPts val="800"/>
              </a:spcAft>
            </a:pPr>
            <a:r>
              <a:rPr sz="1700">
                <a:solidFill>
                  <a:srgbClr val="0B0B0B"/>
                </a:solidFill>
                <a:latin typeface="Calibri"/>
              </a:rPr>
              <a:t>• Reactive u=0.3: $87.5k, still 6.8% dropped</a:t>
            </a:r>
          </a:p>
          <a:p>
            <a:pPr>
              <a:spcAft>
                <a:spcPts val="800"/>
              </a:spcAft>
            </a:pPr>
            <a:r>
              <a:rPr sz="1700">
                <a:solidFill>
                  <a:srgbClr val="0B0B0B"/>
                </a:solidFill>
                <a:latin typeface="Calibri"/>
              </a:rPr>
              <a:t>• Hybrid-rolling: $32.2k, 0% dropped</a:t>
            </a:r>
          </a:p>
          <a:p>
            <a:pPr>
              <a:spcAft>
                <a:spcPts val="800"/>
              </a:spcAft>
            </a:pPr>
            <a:r>
              <a:rPr sz="1700">
                <a:solidFill>
                  <a:srgbClr val="0B0B0B"/>
                </a:solidFill>
                <a:latin typeface="Calibri"/>
              </a:rPr>
              <a:t>• Test days, 101 heavy functions, AWS Mumbai prices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000" b="1">
                <a:solidFill>
                  <a:srgbClr val="0B0B0B"/>
                </a:solidFill>
                <a:latin typeface="Calibri"/>
              </a:rPr>
              <a:t>The idea: a base plus overflow</a:t>
            </a:r>
          </a:p>
          <a:p>
            <a:r>
              <a:rPr sz="1500">
                <a:solidFill>
                  <a:srgbClr val="52514E"/>
                </a:solidFill>
                <a:latin typeface="Calibri"/>
              </a:rPr>
              <a:t>Newsvendor: base = q*-quantile of forecast load</a:t>
            </a:r>
          </a:p>
        </p:txBody>
      </p:sp>
      <p:sp>
        <p:nvSpPr>
          <p:cNvPr id="4" name="TextBox 3"/>
          <p:cNvSpPr txBox="1"/>
          <p:nvPr/>
        </p:nvSpPr>
        <p:spPr>
          <a:xfrm>
            <a:off x="548640" y="1554480"/>
            <a:ext cx="5669280" cy="4754880"/>
          </a:xfrm>
          <a:prstGeom prst="rect">
            <a:avLst/>
          </a:prstGeom>
          <a:noFill/>
        </p:spPr>
        <p:txBody>
          <a:bodyPr wrap="square">
            <a:spAutoFit/>
          </a:bodyPr>
          <a:lstStyle/>
          <a:p>
            <a:pPr>
              <a:spcAft>
                <a:spcPts val="800"/>
              </a:spcAft>
            </a:pPr>
            <a:r>
              <a:rPr sz="1800">
                <a:solidFill>
                  <a:srgbClr val="0B0B0B"/>
                </a:solidFill>
                <a:latin typeface="Calibri"/>
              </a:rPr>
              <a:t>• Base: EC2 Auto Scaling Group (cheap, always on)</a:t>
            </a:r>
          </a:p>
          <a:p>
            <a:pPr>
              <a:spcAft>
                <a:spcPts val="800"/>
              </a:spcAft>
            </a:pPr>
            <a:r>
              <a:rPr sz="1800">
                <a:solidFill>
                  <a:srgbClr val="0B0B0B"/>
                </a:solidFill>
                <a:latin typeface="Calibri"/>
              </a:rPr>
              <a:t>• Overflow: AWS Lambda (instant, pay per use)</a:t>
            </a:r>
          </a:p>
          <a:p>
            <a:pPr>
              <a:spcAft>
                <a:spcPts val="800"/>
              </a:spcAft>
            </a:pPr>
            <a:r>
              <a:rPr sz="1800">
                <a:solidFill>
                  <a:srgbClr val="0B0B0B"/>
                </a:solidFill>
                <a:latin typeface="Calibri"/>
              </a:rPr>
              <a:t>• ALB weighted target groups split the traffic</a:t>
            </a:r>
          </a:p>
          <a:p>
            <a:pPr>
              <a:spcAft>
                <a:spcPts val="800"/>
              </a:spcAft>
            </a:pPr>
            <a:r>
              <a:rPr sz="1800">
                <a:solidFill>
                  <a:srgbClr val="0B0B0B"/>
                </a:solidFill>
                <a:latin typeface="Calibri"/>
              </a:rPr>
              <a:t>• Forecast sets instance count (hourly); observed rate sets weights (per minute)</a:t>
            </a:r>
          </a:p>
        </p:txBody>
      </p:sp>
      <p:sp>
        <p:nvSpPr>
          <p:cNvPr id="5" name="Rounded Rectangle 4"/>
          <p:cNvSpPr/>
          <p:nvPr/>
        </p:nvSpPr>
        <p:spPr>
          <a:xfrm>
            <a:off x="6583680" y="1828800"/>
            <a:ext cx="5120640" cy="2377440"/>
          </a:xfrm>
          <a:prstGeom prst="roundRect">
            <a:avLst/>
          </a:prstGeom>
          <a:solidFill>
            <a:srgbClr val="E8F0FB"/>
          </a:solidFill>
          <a:ln>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0B0B0B"/>
                </a:solidFill>
                <a:latin typeface="Calibri"/>
              </a:rPr>
              <a:t>base  b* = F⁻¹(q*)</a:t>
            </a:r>
          </a:p>
          <a:p>
            <a:pPr algn="ctr"/>
            <a:r>
              <a:rPr sz="2600" b="1">
                <a:solidFill>
                  <a:srgbClr val="0B0B0B"/>
                </a:solidFill>
                <a:latin typeface="Calibri"/>
              </a:rPr>
              <a:t>q* = 1 − f / L</a:t>
            </a:r>
          </a:p>
          <a:p>
            <a:pPr algn="ctr"/>
            <a:r>
              <a:rPr sz="1500" b="0">
                <a:solidFill>
                  <a:srgbClr val="0B0B0B"/>
                </a:solidFill>
                <a:latin typeface="Calibri"/>
              </a:rPr>
              <a:t>f: container $ per unit-minute
L: Lambda $ per unit-minute</a:t>
            </a:r>
          </a:p>
        </p:txBody>
      </p:sp>
      <p:sp>
        <p:nvSpPr>
          <p:cNvPr id="6" name="TextBox 5"/>
          <p:cNvSpPr txBox="1"/>
          <p:nvPr/>
        </p:nvSpPr>
        <p:spPr>
          <a:xfrm>
            <a:off x="6583680" y="4572000"/>
            <a:ext cx="5120640" cy="1280160"/>
          </a:xfrm>
          <a:prstGeom prst="rect">
            <a:avLst/>
          </a:prstGeom>
          <a:noFill/>
        </p:spPr>
        <p:txBody>
          <a:bodyPr wrap="square">
            <a:spAutoFit/>
          </a:bodyPr>
          <a:lstStyle/>
          <a:p>
            <a:r>
              <a:rPr sz="3600" b="1">
                <a:solidFill>
                  <a:srgbClr val="1BAF7A"/>
                </a:solidFill>
                <a:latin typeface="Calibri"/>
              </a:rPr>
              <a:t>0.0013%</a:t>
            </a:r>
          </a:p>
          <a:p>
            <a:r>
              <a:rPr sz="1300">
                <a:solidFill>
                  <a:srgbClr val="52514E"/>
                </a:solidFill>
                <a:latin typeface="Calibri"/>
              </a:rPr>
              <a:t>gap between the rule and brute-force search (test hours)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000" b="1">
                <a:solidFill>
                  <a:srgbClr val="0B0B0B"/>
                </a:solidFill>
                <a:latin typeface="Calibri"/>
              </a:rPr>
              <a:t>Data</a:t>
            </a:r>
          </a:p>
          <a:p>
            <a:r>
              <a:rPr sz="1500">
                <a:solidFill>
                  <a:srgbClr val="52514E"/>
                </a:solidFill>
                <a:latin typeface="Calibri"/>
              </a:rPr>
              <a:t>Azure Functions 2019 trace, filtered to busy functions</a:t>
            </a:r>
          </a:p>
        </p:txBody>
      </p:sp>
      <p:graphicFrame>
        <p:nvGraphicFramePr>
          <p:cNvPr id="4" name="Table 3"/>
          <p:cNvGraphicFramePr>
            <a:graphicFrameLocks noGrp="1"/>
          </p:cNvGraphicFramePr>
          <p:nvPr/>
        </p:nvGraphicFramePr>
        <p:xfrm>
          <a:off x="548640" y="1645920"/>
          <a:ext cx="5669280" cy="3200400"/>
        </p:xfrm>
        <a:graphic>
          <a:graphicData uri="http://schemas.openxmlformats.org/drawingml/2006/table">
            <a:tbl>
              <a:tblPr firstRow="1" bandRow="1">
                <a:tableStyleId>{5C22544A-7EE6-4342-B048-85BDC9FD1C3A}</a:tableStyleId>
              </a:tblPr>
              <a:tblGrid>
                <a:gridCol w="3840480"/>
                <a:gridCol w="1828800"/>
              </a:tblGrid>
              <a:tr h="457200">
                <a:tc>
                  <a:txBody>
                    <a:bodyPr/>
                    <a:lstStyle/>
                    <a:p>
                      <a:r>
                        <a:rPr sz="1500" b="1">
                          <a:solidFill>
                            <a:srgbClr val="0B0B0B"/>
                          </a:solidFill>
                          <a:latin typeface="Calibri"/>
                        </a:rPr>
                        <a:t>Step</a:t>
                      </a:r>
                    </a:p>
                  </a:txBody>
                  <a:tcPr marT="30000" marB="30000">
                    <a:solidFill>
                      <a:srgbClr val="D9D9D9"/>
                    </a:solidFill>
                  </a:tcPr>
                </a:tc>
                <a:tc>
                  <a:txBody>
                    <a:bodyPr/>
                    <a:lstStyle/>
                    <a:p>
                      <a:r>
                        <a:rPr sz="1500" b="1">
                          <a:solidFill>
                            <a:srgbClr val="0B0B0B"/>
                          </a:solidFill>
                          <a:latin typeface="Calibri"/>
                        </a:rPr>
                        <a:t>Count</a:t>
                      </a:r>
                    </a:p>
                  </a:txBody>
                  <a:tcPr marT="30000" marB="30000">
                    <a:solidFill>
                      <a:srgbClr val="D9D9D9"/>
                    </a:solidFill>
                  </a:tcPr>
                </a:tc>
              </a:tr>
              <a:tr h="457200">
                <a:tc>
                  <a:txBody>
                    <a:bodyPr/>
                    <a:lstStyle/>
                    <a:p>
                      <a:r>
                        <a:rPr sz="1500" b="0">
                          <a:solidFill>
                            <a:srgbClr val="0B0B0B"/>
                          </a:solidFill>
                          <a:latin typeface="Calibri"/>
                        </a:rPr>
                        <a:t>Distinct functions (14 days)</a:t>
                      </a:r>
                    </a:p>
                  </a:txBody>
                  <a:tcPr marT="30000" marB="30000">
                    <a:solidFill>
                      <a:srgbClr val="FFFFFF"/>
                    </a:solidFill>
                  </a:tcPr>
                </a:tc>
                <a:tc>
                  <a:txBody>
                    <a:bodyPr/>
                    <a:lstStyle/>
                    <a:p>
                      <a:r>
                        <a:rPr sz="1500" b="0">
                          <a:solidFill>
                            <a:srgbClr val="0B0B0B"/>
                          </a:solidFill>
                          <a:latin typeface="Calibri"/>
                        </a:rPr>
                        <a:t>72,359</a:t>
                      </a:r>
                    </a:p>
                  </a:txBody>
                  <a:tcPr marT="30000" marB="30000">
                    <a:solidFill>
                      <a:srgbClr val="FFFFFF"/>
                    </a:solidFill>
                  </a:tcPr>
                </a:tc>
              </a:tr>
              <a:tr h="457200">
                <a:tc>
                  <a:txBody>
                    <a:bodyPr/>
                    <a:lstStyle/>
                    <a:p>
                      <a:r>
                        <a:rPr sz="1500" b="0">
                          <a:solidFill>
                            <a:srgbClr val="0B0B0B"/>
                          </a:solidFill>
                          <a:latin typeface="Calibri"/>
                        </a:rPr>
                        <a:t>On day 1</a:t>
                      </a:r>
                    </a:p>
                  </a:txBody>
                  <a:tcPr marT="30000" marB="30000">
                    <a:solidFill>
                      <a:srgbClr val="FFFFFF"/>
                    </a:solidFill>
                  </a:tcPr>
                </a:tc>
                <a:tc>
                  <a:txBody>
                    <a:bodyPr/>
                    <a:lstStyle/>
                    <a:p>
                      <a:r>
                        <a:rPr sz="1500" b="0">
                          <a:solidFill>
                            <a:srgbClr val="0B0B0B"/>
                          </a:solidFill>
                          <a:latin typeface="Calibri"/>
                        </a:rPr>
                        <a:t>46,412</a:t>
                      </a:r>
                    </a:p>
                  </a:txBody>
                  <a:tcPr marT="30000" marB="30000">
                    <a:solidFill>
                      <a:srgbClr val="FFFFFF"/>
                    </a:solidFill>
                  </a:tcPr>
                </a:tc>
              </a:tr>
              <a:tr h="457200">
                <a:tc>
                  <a:txBody>
                    <a:bodyPr/>
                    <a:lstStyle/>
                    <a:p>
                      <a:r>
                        <a:rPr sz="1500" b="0">
                          <a:solidFill>
                            <a:srgbClr val="0B0B0B"/>
                          </a:solidFill>
                          <a:latin typeface="Calibri"/>
                        </a:rPr>
                        <a:t>On all 14 days</a:t>
                      </a:r>
                    </a:p>
                  </a:txBody>
                  <a:tcPr marT="30000" marB="30000">
                    <a:solidFill>
                      <a:srgbClr val="FFFFFF"/>
                    </a:solidFill>
                  </a:tcPr>
                </a:tc>
                <a:tc>
                  <a:txBody>
                    <a:bodyPr/>
                    <a:lstStyle/>
                    <a:p>
                      <a:r>
                        <a:rPr sz="1500" b="0">
                          <a:solidFill>
                            <a:srgbClr val="0B0B0B"/>
                          </a:solidFill>
                          <a:latin typeface="Calibri"/>
                        </a:rPr>
                        <a:t>28,859</a:t>
                      </a:r>
                    </a:p>
                  </a:txBody>
                  <a:tcPr marT="30000" marB="30000">
                    <a:solidFill>
                      <a:srgbClr val="FFFFFF"/>
                    </a:solidFill>
                  </a:tcPr>
                </a:tc>
              </a:tr>
              <a:tr h="457200">
                <a:tc>
                  <a:txBody>
                    <a:bodyPr/>
                    <a:lstStyle/>
                    <a:p>
                      <a:r>
                        <a:rPr sz="1500" b="0">
                          <a:solidFill>
                            <a:srgbClr val="0B0B0B"/>
                          </a:solidFill>
                          <a:latin typeface="Calibri"/>
                        </a:rPr>
                        <a:t>&gt;= 5 req/min, all 14 days</a:t>
                      </a:r>
                    </a:p>
                  </a:txBody>
                  <a:tcPr marT="30000" marB="30000">
                    <a:solidFill>
                      <a:srgbClr val="FFFFFF"/>
                    </a:solidFill>
                  </a:tcPr>
                </a:tc>
                <a:tc>
                  <a:txBody>
                    <a:bodyPr/>
                    <a:lstStyle/>
                    <a:p>
                      <a:r>
                        <a:rPr sz="1500" b="0">
                          <a:solidFill>
                            <a:srgbClr val="0B0B0B"/>
                          </a:solidFill>
                          <a:latin typeface="Calibri"/>
                        </a:rPr>
                        <a:t>2,127</a:t>
                      </a:r>
                    </a:p>
                  </a:txBody>
                  <a:tcPr marT="30000" marB="30000">
                    <a:solidFill>
                      <a:srgbClr val="FFFFFF"/>
                    </a:solidFill>
                  </a:tcPr>
                </a:tc>
              </a:tr>
              <a:tr h="457200">
                <a:tc>
                  <a:txBody>
                    <a:bodyPr/>
                    <a:lstStyle/>
                    <a:p>
                      <a:r>
                        <a:rPr sz="1500" b="0">
                          <a:solidFill>
                            <a:srgbClr val="0B0B0B"/>
                          </a:solidFill>
                          <a:latin typeface="Calibri"/>
                        </a:rPr>
                        <a:t>+ duration + memory</a:t>
                      </a:r>
                    </a:p>
                  </a:txBody>
                  <a:tcPr marT="30000" marB="30000">
                    <a:solidFill>
                      <a:srgbClr val="FFFFFF"/>
                    </a:solidFill>
                  </a:tcPr>
                </a:tc>
                <a:tc>
                  <a:txBody>
                    <a:bodyPr/>
                    <a:lstStyle/>
                    <a:p>
                      <a:r>
                        <a:rPr sz="1500" b="0">
                          <a:solidFill>
                            <a:srgbClr val="0B0B0B"/>
                          </a:solidFill>
                          <a:latin typeface="Calibri"/>
                        </a:rPr>
                        <a:t>2,066</a:t>
                      </a:r>
                    </a:p>
                  </a:txBody>
                  <a:tcPr marT="30000" marB="30000">
                    <a:solidFill>
                      <a:srgbClr val="FFFFFF"/>
                    </a:solidFill>
                  </a:tcPr>
                </a:tc>
              </a:tr>
              <a:tr h="457200">
                <a:tc>
                  <a:txBody>
                    <a:bodyPr/>
                    <a:lstStyle/>
                    <a:p>
                      <a:r>
                        <a:rPr sz="1500" b="0">
                          <a:solidFill>
                            <a:srgbClr val="0B0B0B"/>
                          </a:solidFill>
                          <a:latin typeface="Calibri"/>
                        </a:rPr>
                        <a:t>Heavy (&gt;= $50/mo)</a:t>
                      </a:r>
                    </a:p>
                  </a:txBody>
                  <a:tcPr marT="30000" marB="30000">
                    <a:solidFill>
                      <a:srgbClr val="FFFFFF"/>
                    </a:solidFill>
                  </a:tcPr>
                </a:tc>
                <a:tc>
                  <a:txBody>
                    <a:bodyPr/>
                    <a:lstStyle/>
                    <a:p>
                      <a:r>
                        <a:rPr sz="1500" b="0">
                          <a:solidFill>
                            <a:srgbClr val="0B0B0B"/>
                          </a:solidFill>
                          <a:latin typeface="Calibri"/>
                        </a:rPr>
                        <a:t>101</a:t>
                      </a:r>
                    </a:p>
                  </a:txBody>
                  <a:tcPr marT="30000" marB="30000">
                    <a:solidFill>
                      <a:srgbClr val="FFFFFF"/>
                    </a:solidFill>
                  </a:tcPr>
                </a:tc>
              </a:tr>
            </a:tbl>
          </a:graphicData>
        </a:graphic>
      </p:graphicFrame>
      <p:sp>
        <p:nvSpPr>
          <p:cNvPr id="5" name="TextBox 4"/>
          <p:cNvSpPr txBox="1"/>
          <p:nvPr/>
        </p:nvSpPr>
        <p:spPr>
          <a:xfrm>
            <a:off x="6675120" y="1737360"/>
            <a:ext cx="5120640" cy="4754880"/>
          </a:xfrm>
          <a:prstGeom prst="rect">
            <a:avLst/>
          </a:prstGeom>
          <a:noFill/>
        </p:spPr>
        <p:txBody>
          <a:bodyPr wrap="square">
            <a:spAutoFit/>
          </a:bodyPr>
          <a:lstStyle/>
          <a:p>
            <a:pPr>
              <a:spcAft>
                <a:spcPts val="800"/>
              </a:spcAft>
            </a:pPr>
            <a:r>
              <a:rPr sz="1700">
                <a:solidFill>
                  <a:srgbClr val="0B0B0B"/>
                </a:solidFill>
                <a:latin typeface="Calibri"/>
              </a:rPr>
              <a:t>• Load = invocations/min ÷ 60 × duration (concurrency)</a:t>
            </a:r>
          </a:p>
          <a:p>
            <a:pPr>
              <a:spcAft>
                <a:spcPts val="800"/>
              </a:spcAft>
            </a:pPr>
            <a:r>
              <a:rPr sz="1700">
                <a:solidFill>
                  <a:srgbClr val="0B0B0B"/>
                </a:solidFill>
                <a:latin typeface="Calibri"/>
              </a:rPr>
              <a:t>• Timer functions excluded (periodic, not diurnal)</a:t>
            </a:r>
          </a:p>
          <a:p>
            <a:pPr>
              <a:spcAft>
                <a:spcPts val="800"/>
              </a:spcAft>
            </a:pPr>
            <a:r>
              <a:rPr sz="1700">
                <a:solidFill>
                  <a:srgbClr val="0B0B0B"/>
                </a:solidFill>
                <a:latin typeface="Calibri"/>
              </a:rPr>
              <a:t>• Chronological split: train 1-10, validation 11-12, test 13-14</a:t>
            </a:r>
          </a:p>
          <a:p>
            <a:pPr>
              <a:spcAft>
                <a:spcPts val="800"/>
              </a:spcAft>
            </a:pPr>
            <a:r>
              <a:rPr sz="1700">
                <a:solidFill>
                  <a:srgbClr val="0B0B0B"/>
                </a:solidFill>
                <a:latin typeface="Calibri"/>
              </a:rPr>
              <a:t>• Azure traffic priced with AWS prices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000" b="1">
                <a:solidFill>
                  <a:srgbClr val="0B0B0B"/>
                </a:solidFill>
                <a:latin typeface="Calibri"/>
              </a:rPr>
              <a:t>Features and model</a:t>
            </a:r>
          </a:p>
          <a:p>
            <a:r>
              <a:rPr sz="1500">
                <a:solidFill>
                  <a:srgbClr val="52514E"/>
                </a:solidFill>
                <a:latin typeface="Calibri"/>
              </a:rPr>
              <a:t>LightGBM quantile regression, next-hour horizon</a:t>
            </a:r>
          </a:p>
        </p:txBody>
      </p:sp>
      <p:sp>
        <p:nvSpPr>
          <p:cNvPr id="4" name="TextBox 3"/>
          <p:cNvSpPr txBox="1"/>
          <p:nvPr/>
        </p:nvSpPr>
        <p:spPr>
          <a:xfrm>
            <a:off x="548640" y="1554480"/>
            <a:ext cx="5852160" cy="4754880"/>
          </a:xfrm>
          <a:prstGeom prst="rect">
            <a:avLst/>
          </a:prstGeom>
          <a:noFill/>
        </p:spPr>
        <p:txBody>
          <a:bodyPr wrap="square">
            <a:spAutoFit/>
          </a:bodyPr>
          <a:lstStyle/>
          <a:p>
            <a:pPr>
              <a:spcAft>
                <a:spcPts val="800"/>
              </a:spcAft>
            </a:pPr>
            <a:r>
              <a:rPr sz="1700">
                <a:solidFill>
                  <a:srgbClr val="0B0B0B"/>
                </a:solidFill>
                <a:latin typeface="Calibri"/>
              </a:rPr>
              <a:t>• Targets: q in {0.5, 0.7, 0.8, 0.9, 0.95, 0.99} of next-hour per-minute concurrency</a:t>
            </a:r>
          </a:p>
          <a:p>
            <a:pPr>
              <a:spcAft>
                <a:spcPts val="800"/>
              </a:spcAft>
            </a:pPr>
            <a:r>
              <a:rPr sz="1700">
                <a:solidFill>
                  <a:srgbClr val="0B0B0B"/>
                </a:solidFill>
                <a:latin typeface="Calibri"/>
              </a:rPr>
              <a:t>• Features: last 60 / 360 min (mean, max, q90), same hour yesterday, hour of day, trigger, app level</a:t>
            </a:r>
          </a:p>
          <a:p>
            <a:pPr>
              <a:spcAft>
                <a:spcPts val="800"/>
              </a:spcAft>
            </a:pPr>
            <a:r>
              <a:rPr sz="1700">
                <a:solidFill>
                  <a:srgbClr val="0B0B0B"/>
                </a:solidFill>
                <a:latin typeface="Calibri"/>
              </a:rPr>
              <a:t>• Margin multiplier chosen on validation by decision cost</a:t>
            </a:r>
          </a:p>
          <a:p>
            <a:pPr>
              <a:spcAft>
                <a:spcPts val="800"/>
              </a:spcAft>
            </a:pPr>
            <a:r>
              <a:rPr sz="1700">
                <a:solidFill>
                  <a:srgbClr val="0B0B0B"/>
                </a:solidFill>
                <a:latin typeface="Calibri"/>
              </a:rPr>
              <a:t>• Baselines: persistence, rolling 6 h, seasonal naive, static</a:t>
            </a:r>
          </a:p>
        </p:txBody>
      </p:sp>
      <p:pic>
        <p:nvPicPr>
          <p:cNvPr id="5" name="Picture 4" descr="quantile_coverage.png"/>
          <p:cNvPicPr>
            <a:picLocks noChangeAspect="1"/>
          </p:cNvPicPr>
          <p:nvPr/>
        </p:nvPicPr>
        <p:blipFill>
          <a:blip r:embed="rId3"/>
          <a:stretch>
            <a:fillRect/>
          </a:stretch>
        </p:blipFill>
        <p:spPr>
          <a:xfrm>
            <a:off x="6583680" y="1554480"/>
            <a:ext cx="5303520" cy="390711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000" b="1">
                <a:solidFill>
                  <a:srgbClr val="0B0B0B"/>
                </a:solidFill>
                <a:latin typeface="Calibri"/>
              </a:rPr>
              <a:t>Architecture</a:t>
            </a:r>
          </a:p>
          <a:p>
            <a:r>
              <a:rPr sz="1500">
                <a:solidFill>
                  <a:srgbClr val="52514E"/>
                </a:solidFill>
                <a:latin typeface="Calibri"/>
              </a:rPr>
              <a:t>Forecast sets instances, observed load sets weights</a:t>
            </a:r>
          </a:p>
        </p:txBody>
      </p:sp>
      <p:pic>
        <p:nvPicPr>
          <p:cNvPr id="4" name="Picture 3" descr="architecture.png"/>
          <p:cNvPicPr>
            <a:picLocks noChangeAspect="1"/>
          </p:cNvPicPr>
          <p:nvPr/>
        </p:nvPicPr>
        <p:blipFill>
          <a:blip r:embed="rId3"/>
          <a:stretch>
            <a:fillRect/>
          </a:stretch>
        </p:blipFill>
        <p:spPr>
          <a:xfrm>
            <a:off x="365760" y="1463040"/>
            <a:ext cx="7955279" cy="4436294"/>
          </a:xfrm>
          <a:prstGeom prst="rect">
            <a:avLst/>
          </a:prstGeom>
        </p:spPr>
      </p:pic>
      <p:sp>
        <p:nvSpPr>
          <p:cNvPr id="5" name="TextBox 4"/>
          <p:cNvSpPr txBox="1"/>
          <p:nvPr/>
        </p:nvSpPr>
        <p:spPr>
          <a:xfrm>
            <a:off x="8503920" y="1828800"/>
            <a:ext cx="3474720" cy="4754880"/>
          </a:xfrm>
          <a:prstGeom prst="rect">
            <a:avLst/>
          </a:prstGeom>
          <a:noFill/>
        </p:spPr>
        <p:txBody>
          <a:bodyPr wrap="square">
            <a:spAutoFit/>
          </a:bodyPr>
          <a:lstStyle/>
          <a:p>
            <a:pPr>
              <a:spcAft>
                <a:spcPts val="800"/>
              </a:spcAft>
            </a:pPr>
            <a:r>
              <a:rPr sz="1600">
                <a:solidFill>
                  <a:srgbClr val="0B0B0B"/>
                </a:solidFill>
                <a:latin typeface="Calibri"/>
              </a:rPr>
              <a:t>• ALB weights 0-999, per minute</a:t>
            </a:r>
          </a:p>
          <a:p>
            <a:pPr>
              <a:spcAft>
                <a:spcPts val="800"/>
              </a:spcAft>
            </a:pPr>
            <a:r>
              <a:rPr sz="1600">
                <a:solidFill>
                  <a:srgbClr val="0B0B0B"/>
                </a:solidFill>
                <a:latin typeface="Calibri"/>
              </a:rPr>
              <a:t>• ASG desired capacity, per hour</a:t>
            </a:r>
          </a:p>
          <a:p>
            <a:pPr>
              <a:spcAft>
                <a:spcPts val="800"/>
              </a:spcAft>
            </a:pPr>
            <a:r>
              <a:rPr sz="1600">
                <a:solidFill>
                  <a:srgbClr val="0B0B0B"/>
                </a:solidFill>
                <a:latin typeface="Calibri"/>
              </a:rPr>
              <a:t>• Lambda 1769 MB (1 vCPU) as overflow</a:t>
            </a:r>
          </a:p>
          <a:p>
            <a:pPr>
              <a:spcAft>
                <a:spcPts val="800"/>
              </a:spcAft>
            </a:pPr>
            <a:r>
              <a:rPr sz="1600">
                <a:solidFill>
                  <a:srgbClr val="0B0B0B"/>
                </a:solidFill>
                <a:latin typeface="Calibri"/>
              </a:rPr>
              <a:t>• make up / make down, tagged, verified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000" b="1">
                <a:solidFill>
                  <a:srgbClr val="0B0B0B"/>
                </a:solidFill>
                <a:latin typeface="Calibri"/>
              </a:rPr>
              <a:t>Simulation results</a:t>
            </a:r>
          </a:p>
          <a:p>
            <a:r>
              <a:rPr sz="1500">
                <a:solidFill>
                  <a:srgbClr val="52514E"/>
                </a:solidFill>
                <a:latin typeface="Calibri"/>
              </a:rPr>
              <a:t>The hybrid wins on cost and unserved load; ML adds almost nothing over rolling</a:t>
            </a:r>
          </a:p>
        </p:txBody>
      </p:sp>
      <p:pic>
        <p:nvPicPr>
          <p:cNvPr id="4" name="Picture 3" descr="cost_comparison.png"/>
          <p:cNvPicPr>
            <a:picLocks noChangeAspect="1"/>
          </p:cNvPicPr>
          <p:nvPr/>
        </p:nvPicPr>
        <p:blipFill>
          <a:blip r:embed="rId3"/>
          <a:stretch>
            <a:fillRect/>
          </a:stretch>
        </p:blipFill>
        <p:spPr>
          <a:xfrm>
            <a:off x="365760" y="1463040"/>
            <a:ext cx="7680960" cy="3597327"/>
          </a:xfrm>
          <a:prstGeom prst="rect">
            <a:avLst/>
          </a:prstGeom>
        </p:spPr>
      </p:pic>
      <p:sp>
        <p:nvSpPr>
          <p:cNvPr id="5" name="TextBox 4"/>
          <p:cNvSpPr txBox="1"/>
          <p:nvPr/>
        </p:nvSpPr>
        <p:spPr>
          <a:xfrm>
            <a:off x="8138160" y="1737360"/>
            <a:ext cx="3840480" cy="4754880"/>
          </a:xfrm>
          <a:prstGeom prst="rect">
            <a:avLst/>
          </a:prstGeom>
          <a:noFill/>
        </p:spPr>
        <p:txBody>
          <a:bodyPr wrap="square">
            <a:spAutoFit/>
          </a:bodyPr>
          <a:lstStyle/>
          <a:p>
            <a:pPr>
              <a:spcAft>
                <a:spcPts val="800"/>
              </a:spcAft>
            </a:pPr>
            <a:r>
              <a:rPr sz="1600">
                <a:solidFill>
                  <a:srgbClr val="0B0B0B"/>
                </a:solidFill>
                <a:latin typeface="Calibri"/>
              </a:rPr>
              <a:t>• Hybrid-rolling $32.2k vs all-Lambda $54.6k</a:t>
            </a:r>
          </a:p>
          <a:p>
            <a:pPr>
              <a:spcAft>
                <a:spcPts val="800"/>
              </a:spcAft>
            </a:pPr>
            <a:r>
              <a:rPr sz="1600">
                <a:solidFill>
                  <a:srgbClr val="0B0B0B"/>
                </a:solidFill>
                <a:latin typeface="Calibri"/>
              </a:rPr>
              <a:t>• ML vs rolling: -0.25% (noise level)</a:t>
            </a:r>
          </a:p>
          <a:p>
            <a:pPr>
              <a:spcAft>
                <a:spcPts val="800"/>
              </a:spcAft>
            </a:pPr>
            <a:r>
              <a:rPr sz="1600">
                <a:solidFill>
                  <a:srgbClr val="0B0B0B"/>
                </a:solidFill>
                <a:latin typeface="Calibri"/>
              </a:rPr>
              <a:t>• Headroom to oracle: 5.4%</a:t>
            </a:r>
          </a:p>
          <a:p>
            <a:pPr>
              <a:spcAft>
                <a:spcPts val="800"/>
              </a:spcAft>
            </a:pPr>
            <a:r>
              <a:rPr sz="1600">
                <a:solidFill>
                  <a:srgbClr val="0B0B0B"/>
                </a:solidFill>
                <a:latin typeface="Calibri"/>
              </a:rPr>
              <a:t>• Energy (estimate): hybrid 3,455 kWh vs all-Lambda 1,040 kWh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000" b="1">
                <a:solidFill>
                  <a:srgbClr val="0B0B0B"/>
                </a:solidFill>
                <a:latin typeface="Calibri"/>
              </a:rPr>
              <a:t>Live results on AWS</a:t>
            </a:r>
          </a:p>
          <a:p>
            <a:r>
              <a:rPr sz="1500">
                <a:solidFill>
                  <a:srgbClr val="52514E"/>
                </a:solidFill>
                <a:latin typeface="Calibri"/>
              </a:rPr>
              <a:t>pending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000" b="1">
                <a:solidFill>
                  <a:srgbClr val="0B0B0B"/>
                </a:solidFill>
                <a:latin typeface="Calibri"/>
              </a:rPr>
              <a:t>What if the prediction is wrong?</a:t>
            </a:r>
          </a:p>
          <a:p>
            <a:r>
              <a:rPr sz="1500">
                <a:solidFill>
                  <a:srgbClr val="52514E"/>
                </a:solidFill>
                <a:latin typeface="Calibri"/>
              </a:rPr>
              <a:t>Under-prediction goes to Lambda; nothing is dropped</a:t>
            </a:r>
          </a:p>
        </p:txBody>
      </p:sp>
      <p:pic>
        <p:nvPicPr>
          <p:cNvPr id="4" name="Picture 3" descr="spike.png"/>
          <p:cNvPicPr>
            <a:picLocks noChangeAspect="1"/>
          </p:cNvPicPr>
          <p:nvPr/>
        </p:nvPicPr>
        <p:blipFill>
          <a:blip r:embed="rId3"/>
          <a:stretch>
            <a:fillRect/>
          </a:stretch>
        </p:blipFill>
        <p:spPr>
          <a:xfrm>
            <a:off x="365760" y="1645920"/>
            <a:ext cx="7772400" cy="3346357"/>
          </a:xfrm>
          <a:prstGeom prst="rect">
            <a:avLst/>
          </a:prstGeom>
        </p:spPr>
      </p:pic>
      <p:sp>
        <p:nvSpPr>
          <p:cNvPr id="5" name="TextBox 4"/>
          <p:cNvSpPr txBox="1"/>
          <p:nvPr/>
        </p:nvSpPr>
        <p:spPr>
          <a:xfrm>
            <a:off x="8321040" y="1737360"/>
            <a:ext cx="3657600" cy="4754880"/>
          </a:xfrm>
          <a:prstGeom prst="rect">
            <a:avLst/>
          </a:prstGeom>
          <a:noFill/>
        </p:spPr>
        <p:txBody>
          <a:bodyPr wrap="square">
            <a:spAutoFit/>
          </a:bodyPr>
          <a:lstStyle/>
          <a:p>
            <a:pPr>
              <a:spcAft>
                <a:spcPts val="800"/>
              </a:spcAft>
            </a:pPr>
            <a:r>
              <a:rPr sz="1500">
                <a:solidFill>
                  <a:srgbClr val="0B0B0B"/>
                </a:solidFill>
                <a:latin typeface="Calibri"/>
              </a:rPr>
              <a:t>• Too small base: overflow to Lambda, higher cost, higher latency on cold start</a:t>
            </a:r>
          </a:p>
          <a:p>
            <a:pPr>
              <a:spcAft>
                <a:spcPts val="800"/>
              </a:spcAft>
            </a:pPr>
            <a:r>
              <a:rPr sz="1500">
                <a:solidFill>
                  <a:srgbClr val="0B0B0B"/>
                </a:solidFill>
                <a:latin typeface="Calibri"/>
              </a:rPr>
              <a:t>• Too large base: idle containers, wasted money only</a:t>
            </a:r>
          </a:p>
          <a:p>
            <a:pPr>
              <a:spcAft>
                <a:spcPts val="800"/>
              </a:spcAft>
            </a:pPr>
            <a:r>
              <a:rPr sz="1500">
                <a:solidFill>
                  <a:srgbClr val="0B0B0B"/>
                </a:solidFill>
                <a:latin typeface="Calibri"/>
              </a:rPr>
              <a:t>• Reactive: under-provisions and drops load</a:t>
            </a:r>
          </a:p>
          <a:p>
            <a:pPr>
              <a:spcAft>
                <a:spcPts val="800"/>
              </a:spcAft>
            </a:pPr>
            <a:r>
              <a:rPr sz="1500">
                <a:solidFill>
                  <a:srgbClr val="0B0B0B"/>
                </a:solidFill>
                <a:latin typeface="Calibri"/>
              </a:rPr>
              <a:t>• x5 spike: +$4.4k (rolling) / +$5.7k (ML) per month, 0% dropped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000" b="1">
                <a:solidFill>
                  <a:srgbClr val="0B0B0B"/>
                </a:solidFill>
                <a:latin typeface="Calibri"/>
              </a:rPr>
              <a:t>Limitations and future work</a:t>
            </a:r>
          </a:p>
          <a:p>
            <a:r>
              <a:rPr sz="1500">
                <a:solidFill>
                  <a:srgbClr val="52514E"/>
                </a:solidFill>
                <a:latin typeface="Calibri"/>
              </a:rPr>
              <a:t>Honest boundaries</a:t>
            </a:r>
          </a:p>
        </p:txBody>
      </p:sp>
      <p:sp>
        <p:nvSpPr>
          <p:cNvPr id="4" name="TextBox 3"/>
          <p:cNvSpPr txBox="1"/>
          <p:nvPr/>
        </p:nvSpPr>
        <p:spPr>
          <a:xfrm>
            <a:off x="548640" y="1554480"/>
            <a:ext cx="5486400" cy="4754880"/>
          </a:xfrm>
          <a:prstGeom prst="rect">
            <a:avLst/>
          </a:prstGeom>
          <a:noFill/>
        </p:spPr>
        <p:txBody>
          <a:bodyPr wrap="square">
            <a:spAutoFit/>
          </a:bodyPr>
          <a:lstStyle/>
          <a:p>
            <a:pPr>
              <a:spcAft>
                <a:spcPts val="800"/>
              </a:spcAft>
            </a:pPr>
            <a:r>
              <a:rPr sz="1600">
                <a:solidFill>
                  <a:srgbClr val="0B0B0B"/>
                </a:solidFill>
                <a:latin typeface="Calibri"/>
              </a:rPr>
              <a:t>• Azure traffic, AWS prices</a:t>
            </a:r>
          </a:p>
          <a:p>
            <a:pPr>
              <a:spcAft>
                <a:spcPts val="800"/>
              </a:spcAft>
            </a:pPr>
            <a:r>
              <a:rPr sz="1600">
                <a:solidFill>
                  <a:srgbClr val="0B0B0B"/>
                </a:solidFill>
                <a:latin typeface="Calibri"/>
              </a:rPr>
              <a:t>• One request type, one instance type, coarse capacity grid</a:t>
            </a:r>
          </a:p>
          <a:p>
            <a:pPr>
              <a:spcAft>
                <a:spcPts val="800"/>
              </a:spcAft>
            </a:pPr>
            <a:r>
              <a:rPr sz="1600">
                <a:solidFill>
                  <a:srgbClr val="0B0B0B"/>
                </a:solidFill>
                <a:latin typeface="Calibri"/>
              </a:rPr>
              <a:t>• Short, compressed, single-run live arms</a:t>
            </a:r>
          </a:p>
          <a:p>
            <a:pPr>
              <a:spcAft>
                <a:spcPts val="800"/>
              </a:spcAft>
            </a:pPr>
            <a:r>
              <a:rPr sz="1600">
                <a:solidFill>
                  <a:srgbClr val="0B0B0B"/>
                </a:solidFill>
                <a:latin typeface="Calibri"/>
              </a:rPr>
              <a:t>• Energy is an estimate; predictive scaling not run live</a:t>
            </a:r>
          </a:p>
          <a:p>
            <a:pPr>
              <a:spcAft>
                <a:spcPts val="800"/>
              </a:spcAft>
            </a:pPr>
            <a:r>
              <a:rPr sz="1600">
                <a:solidFill>
                  <a:srgbClr val="0B0B0B"/>
                </a:solidFill>
                <a:latin typeface="Calibri"/>
              </a:rPr>
              <a:t>• Advantage depends on capacity and Lambda price</a:t>
            </a:r>
          </a:p>
        </p:txBody>
      </p:sp>
      <p:sp>
        <p:nvSpPr>
          <p:cNvPr id="5" name="TextBox 4"/>
          <p:cNvSpPr txBox="1"/>
          <p:nvPr/>
        </p:nvSpPr>
        <p:spPr>
          <a:xfrm>
            <a:off x="6400800" y="1554480"/>
            <a:ext cx="5303520" cy="4754880"/>
          </a:xfrm>
          <a:prstGeom prst="rect">
            <a:avLst/>
          </a:prstGeom>
          <a:noFill/>
        </p:spPr>
        <p:txBody>
          <a:bodyPr wrap="square">
            <a:spAutoFit/>
          </a:bodyPr>
          <a:lstStyle/>
          <a:p>
            <a:pPr>
              <a:spcAft>
                <a:spcPts val="800"/>
              </a:spcAft>
            </a:pPr>
            <a:r>
              <a:rPr sz="1600">
                <a:solidFill>
                  <a:srgbClr val="0B0B0B"/>
                </a:solidFill>
                <a:latin typeface="Calibri"/>
              </a:rPr>
              <a:t>• Storage tiering and network cost (out of scope here)</a:t>
            </a:r>
          </a:p>
          <a:p>
            <a:pPr>
              <a:spcAft>
                <a:spcPts val="800"/>
              </a:spcAft>
            </a:pPr>
            <a:r>
              <a:rPr sz="1600">
                <a:solidFill>
                  <a:srgbClr val="0B0B0B"/>
                </a:solidFill>
                <a:latin typeface="Calibri"/>
              </a:rPr>
              <a:t>• Fargate base, measured and run live</a:t>
            </a:r>
          </a:p>
          <a:p>
            <a:pPr>
              <a:spcAft>
                <a:spcPts val="800"/>
              </a:spcAft>
            </a:pPr>
            <a:r>
              <a:rPr sz="1600">
                <a:solidFill>
                  <a:srgbClr val="0B0B0B"/>
                </a:solidFill>
                <a:latin typeface="Calibri"/>
              </a:rPr>
              <a:t>• Multi-region placement</a:t>
            </a:r>
          </a:p>
          <a:p>
            <a:pPr>
              <a:spcAft>
                <a:spcPts val="800"/>
              </a:spcAft>
            </a:pPr>
            <a:r>
              <a:rPr sz="1600">
                <a:solidFill>
                  <a:srgbClr val="0B0B0B"/>
                </a:solidFill>
                <a:latin typeface="Calibri"/>
              </a:rPr>
              <a:t>• Anomaly-aware forecasts</a:t>
            </a:r>
          </a:p>
          <a:p>
            <a:pPr>
              <a:spcAft>
                <a:spcPts val="800"/>
              </a:spcAft>
            </a:pPr>
            <a:r>
              <a:rPr sz="1600">
                <a:solidFill>
                  <a:srgbClr val="0B0B0B"/>
                </a:solidFill>
                <a:latin typeface="Calibri"/>
              </a:rPr>
              <a:t>• Overflow-only routing instead of weights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000" b="1">
                <a:solidFill>
                  <a:srgbClr val="0B0B0B"/>
                </a:solidFill>
                <a:latin typeface="Calibri"/>
              </a:rPr>
              <a:t>Conclusion</a:t>
            </a:r>
          </a:p>
          <a:p>
            <a:r>
              <a:rPr sz="1500">
                <a:solidFill>
                  <a:srgbClr val="52514E"/>
                </a:solidFill>
                <a:latin typeface="Calibri"/>
              </a:rPr>
              <a:t>A principled base, an honest result</a:t>
            </a:r>
          </a:p>
        </p:txBody>
      </p:sp>
      <p:sp>
        <p:nvSpPr>
          <p:cNvPr id="4" name="TextBox 3"/>
          <p:cNvSpPr txBox="1"/>
          <p:nvPr/>
        </p:nvSpPr>
        <p:spPr>
          <a:xfrm>
            <a:off x="548640" y="1554480"/>
            <a:ext cx="10972800" cy="4754880"/>
          </a:xfrm>
          <a:prstGeom prst="rect">
            <a:avLst/>
          </a:prstGeom>
          <a:noFill/>
        </p:spPr>
        <p:txBody>
          <a:bodyPr wrap="square">
            <a:spAutoFit/>
          </a:bodyPr>
          <a:lstStyle/>
          <a:p>
            <a:pPr>
              <a:spcAft>
                <a:spcPts val="800"/>
              </a:spcAft>
            </a:pPr>
            <a:r>
              <a:rPr sz="2000">
                <a:solidFill>
                  <a:srgbClr val="0B0B0B"/>
                </a:solidFill>
                <a:latin typeface="Calibri"/>
              </a:rPr>
              <a:t>• Newsvendor rule sets the base; matches brute force</a:t>
            </a:r>
          </a:p>
          <a:p>
            <a:pPr>
              <a:spcAft>
                <a:spcPts val="800"/>
              </a:spcAft>
            </a:pPr>
            <a:r>
              <a:rPr sz="2000">
                <a:solidFill>
                  <a:srgbClr val="0B0B0B"/>
                </a:solidFill>
                <a:latin typeface="Calibri"/>
              </a:rPr>
              <a:t>• Hybrid: $32.2k/month, 0% dropped, vs $54.6k all-Lambda and reactive $37.5k with 9.2% dropped</a:t>
            </a:r>
          </a:p>
          <a:p>
            <a:pPr>
              <a:spcAft>
                <a:spcPts val="800"/>
              </a:spcAft>
            </a:pPr>
            <a:r>
              <a:rPr sz="2000">
                <a:solidFill>
                  <a:srgbClr val="0B0B0B"/>
                </a:solidFill>
                <a:latin typeface="Calibri"/>
              </a:rPr>
              <a:t>• ML forecaster ≈ rolling quantile (reported plainly)</a:t>
            </a:r>
          </a:p>
          <a:p>
            <a:pPr>
              <a:spcAft>
                <a:spcPts val="800"/>
              </a:spcAft>
            </a:pPr>
            <a:r>
              <a:rPr sz="2000">
                <a:solidFill>
                  <a:srgbClr val="0B0B0B"/>
                </a:solidFill>
                <a:latin typeface="Calibri"/>
              </a:rPr>
              <a:t>• Hybrid saves cost, not energy (estimate)</a:t>
            </a:r>
          </a:p>
          <a:p>
            <a:pPr>
              <a:spcAft>
                <a:spcPts val="800"/>
              </a:spcAft>
            </a:pPr>
            <a:r>
              <a:rPr sz="2000">
                <a:solidFill>
                  <a:srgbClr val="0B0B0B"/>
                </a:solidFill>
                <a:latin typeface="Calibri"/>
              </a:rPr>
              <a:t>• Live AWS demo reconciled with simulator replay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000" b="1">
                <a:solidFill>
                  <a:srgbClr val="0B0B0B"/>
                </a:solidFill>
                <a:latin typeface="Calibri"/>
              </a:rPr>
              <a:t>Backup: cost-model assumptions</a:t>
            </a:r>
          </a:p>
          <a:p>
            <a:r>
              <a:rPr sz="1500">
                <a:solidFill>
                  <a:srgbClr val="52514E"/>
                </a:solidFill>
                <a:latin typeface="Calibri"/>
              </a:rPr>
              <a:t>Backup</a:t>
            </a:r>
          </a:p>
        </p:txBody>
      </p:sp>
      <p:graphicFrame>
        <p:nvGraphicFramePr>
          <p:cNvPr id="4" name="Table 3"/>
          <p:cNvGraphicFramePr>
            <a:graphicFrameLocks noGrp="1"/>
          </p:cNvGraphicFramePr>
          <p:nvPr/>
        </p:nvGraphicFramePr>
        <p:xfrm>
          <a:off x="548640" y="1645920"/>
          <a:ext cx="8686800" cy="3657600"/>
        </p:xfrm>
        <a:graphic>
          <a:graphicData uri="http://schemas.openxmlformats.org/drawingml/2006/table">
            <a:tbl>
              <a:tblPr firstRow="1" bandRow="1">
                <a:tableStyleId>{5C22544A-7EE6-4342-B048-85BDC9FD1C3A}</a:tableStyleId>
              </a:tblPr>
              <a:tblGrid>
                <a:gridCol w="3200400"/>
                <a:gridCol w="5486400"/>
              </a:tblGrid>
              <a:tr h="457200">
                <a:tc>
                  <a:txBody>
                    <a:bodyPr/>
                    <a:lstStyle/>
                    <a:p>
                      <a:r>
                        <a:rPr sz="1500" b="1">
                          <a:solidFill>
                            <a:srgbClr val="0B0B0B"/>
                          </a:solidFill>
                          <a:latin typeface="Calibri"/>
                        </a:rPr>
                        <a:t>Item</a:t>
                      </a:r>
                    </a:p>
                  </a:txBody>
                  <a:tcPr marT="30000" marB="30000">
                    <a:solidFill>
                      <a:srgbClr val="D9D9D9"/>
                    </a:solidFill>
                  </a:tcPr>
                </a:tc>
                <a:tc>
                  <a:txBody>
                    <a:bodyPr/>
                    <a:lstStyle/>
                    <a:p>
                      <a:r>
                        <a:rPr sz="1500" b="1">
                          <a:solidFill>
                            <a:srgbClr val="0B0B0B"/>
                          </a:solidFill>
                          <a:latin typeface="Calibri"/>
                        </a:rPr>
                        <a:t>Value</a:t>
                      </a:r>
                    </a:p>
                  </a:txBody>
                  <a:tcPr marT="30000" marB="30000">
                    <a:solidFill>
                      <a:srgbClr val="D9D9D9"/>
                    </a:solidFill>
                  </a:tcPr>
                </a:tc>
              </a:tr>
              <a:tr h="457200">
                <a:tc>
                  <a:txBody>
                    <a:bodyPr/>
                    <a:lstStyle/>
                    <a:p>
                      <a:r>
                        <a:rPr sz="1500" b="0">
                          <a:solidFill>
                            <a:srgbClr val="0B0B0B"/>
                          </a:solidFill>
                          <a:latin typeface="Calibri"/>
                        </a:rPr>
                        <a:t>Lambda duration</a:t>
                      </a:r>
                    </a:p>
                  </a:txBody>
                  <a:tcPr marT="30000" marB="30000">
                    <a:solidFill>
                      <a:srgbClr val="FFFFFF"/>
                    </a:solidFill>
                  </a:tcPr>
                </a:tc>
                <a:tc>
                  <a:txBody>
                    <a:bodyPr/>
                    <a:lstStyle/>
                    <a:p>
                      <a:r>
                        <a:rPr sz="1500" b="0">
                          <a:solidFill>
                            <a:srgbClr val="0B0B0B"/>
                          </a:solidFill>
                          <a:latin typeface="Calibri"/>
                        </a:rPr>
                        <a:t>$0.0000167 per GB-s</a:t>
                      </a:r>
                    </a:p>
                  </a:txBody>
                  <a:tcPr marT="30000" marB="30000">
                    <a:solidFill>
                      <a:srgbClr val="FFFFFF"/>
                    </a:solidFill>
                  </a:tcPr>
                </a:tc>
              </a:tr>
              <a:tr h="457200">
                <a:tc>
                  <a:txBody>
                    <a:bodyPr/>
                    <a:lstStyle/>
                    <a:p>
                      <a:r>
                        <a:rPr sz="1500" b="0">
                          <a:solidFill>
                            <a:srgbClr val="0B0B0B"/>
                          </a:solidFill>
                          <a:latin typeface="Calibri"/>
                        </a:rPr>
                        <a:t>Lambda requests</a:t>
                      </a:r>
                    </a:p>
                  </a:txBody>
                  <a:tcPr marT="30000" marB="30000">
                    <a:solidFill>
                      <a:srgbClr val="FFFFFF"/>
                    </a:solidFill>
                  </a:tcPr>
                </a:tc>
                <a:tc>
                  <a:txBody>
                    <a:bodyPr/>
                    <a:lstStyle/>
                    <a:p>
                      <a:r>
                        <a:rPr sz="1500" b="0">
                          <a:solidFill>
                            <a:srgbClr val="0B0B0B"/>
                          </a:solidFill>
                          <a:latin typeface="Calibri"/>
                        </a:rPr>
                        <a:t>$0.0000002 per request</a:t>
                      </a:r>
                    </a:p>
                  </a:txBody>
                  <a:tcPr marT="30000" marB="30000">
                    <a:solidFill>
                      <a:srgbClr val="FFFFFF"/>
                    </a:solidFill>
                  </a:tcPr>
                </a:tc>
              </a:tr>
              <a:tr h="457200">
                <a:tc>
                  <a:txBody>
                    <a:bodyPr/>
                    <a:lstStyle/>
                    <a:p>
                      <a:r>
                        <a:rPr sz="1500" b="0">
                          <a:solidFill>
                            <a:srgbClr val="0B0B0B"/>
                          </a:solidFill>
                          <a:latin typeface="Calibri"/>
                        </a:rPr>
                        <a:t>EC2 t3.medium</a:t>
                      </a:r>
                    </a:p>
                  </a:txBody>
                  <a:tcPr marT="30000" marB="30000">
                    <a:solidFill>
                      <a:srgbClr val="FFFFFF"/>
                    </a:solidFill>
                  </a:tcPr>
                </a:tc>
                <a:tc>
                  <a:txBody>
                    <a:bodyPr/>
                    <a:lstStyle/>
                    <a:p>
                      <a:r>
                        <a:rPr sz="1500" b="0">
                          <a:solidFill>
                            <a:srgbClr val="0B0B0B"/>
                          </a:solidFill>
                          <a:latin typeface="Calibri"/>
                        </a:rPr>
                        <a:t>$0.0448 per hour</a:t>
                      </a:r>
                    </a:p>
                  </a:txBody>
                  <a:tcPr marT="30000" marB="30000">
                    <a:solidFill>
                      <a:srgbClr val="FFFFFF"/>
                    </a:solidFill>
                  </a:tcPr>
                </a:tc>
              </a:tr>
              <a:tr h="457200">
                <a:tc>
                  <a:txBody>
                    <a:bodyPr/>
                    <a:lstStyle/>
                    <a:p>
                      <a:r>
                        <a:rPr sz="1500" b="0">
                          <a:solidFill>
                            <a:srgbClr val="0B0B0B"/>
                          </a:solidFill>
                          <a:latin typeface="Calibri"/>
                        </a:rPr>
                        <a:t>Fargate vCPU / GB</a:t>
                      </a:r>
                    </a:p>
                  </a:txBody>
                  <a:tcPr marT="30000" marB="30000">
                    <a:solidFill>
                      <a:srgbClr val="FFFFFF"/>
                    </a:solidFill>
                  </a:tcPr>
                </a:tc>
                <a:tc>
                  <a:txBody>
                    <a:bodyPr/>
                    <a:lstStyle/>
                    <a:p>
                      <a:r>
                        <a:rPr sz="1500" b="0">
                          <a:solidFill>
                            <a:srgbClr val="0B0B0B"/>
                          </a:solidFill>
                          <a:latin typeface="Calibri"/>
                        </a:rPr>
                        <a:t>$0.04256 / $0.004655 per hour</a:t>
                      </a:r>
                    </a:p>
                  </a:txBody>
                  <a:tcPr marT="30000" marB="30000">
                    <a:solidFill>
                      <a:srgbClr val="FFFFFF"/>
                    </a:solidFill>
                  </a:tcPr>
                </a:tc>
              </a:tr>
              <a:tr h="457200">
                <a:tc>
                  <a:txBody>
                    <a:bodyPr/>
                    <a:lstStyle/>
                    <a:p>
                      <a:r>
                        <a:rPr sz="1500" b="0">
                          <a:solidFill>
                            <a:srgbClr val="0B0B0B"/>
                          </a:solidFill>
                          <a:latin typeface="Calibri"/>
                        </a:rPr>
                        <a:t>EC2 capacity unit</a:t>
                      </a:r>
                    </a:p>
                  </a:txBody>
                  <a:tcPr marT="30000" marB="30000">
                    <a:solidFill>
                      <a:srgbClr val="FFFFFF"/>
                    </a:solidFill>
                  </a:tcPr>
                </a:tc>
                <a:tc>
                  <a:txBody>
                    <a:bodyPr/>
                    <a:lstStyle/>
                    <a:p>
                      <a:r>
                        <a:rPr sz="1500" b="0">
                          <a:solidFill>
                            <a:srgbClr val="0B0B0B"/>
                          </a:solidFill>
                          <a:latin typeface="Calibri"/>
                        </a:rPr>
                        <a:t>6.4 concurrent requests (measured; assumed 16)</a:t>
                      </a:r>
                    </a:p>
                  </a:txBody>
                  <a:tcPr marT="30000" marB="30000">
                    <a:solidFill>
                      <a:srgbClr val="FFFFFF"/>
                    </a:solidFill>
                  </a:tcPr>
                </a:tc>
              </a:tr>
              <a:tr h="457200">
                <a:tc>
                  <a:txBody>
                    <a:bodyPr/>
                    <a:lstStyle/>
                    <a:p>
                      <a:r>
                        <a:rPr sz="1500" b="0">
                          <a:solidFill>
                            <a:srgbClr val="0B0B0B"/>
                          </a:solidFill>
                          <a:latin typeface="Calibri"/>
                        </a:rPr>
                        <a:t>Fargate capacity unit</a:t>
                      </a:r>
                    </a:p>
                  </a:txBody>
                  <a:tcPr marT="30000" marB="30000">
                    <a:solidFill>
                      <a:srgbClr val="FFFFFF"/>
                    </a:solidFill>
                  </a:tcPr>
                </a:tc>
                <a:tc>
                  <a:txBody>
                    <a:bodyPr/>
                    <a:lstStyle/>
                    <a:p>
                      <a:r>
                        <a:rPr sz="1500" b="0">
                          <a:solidFill>
                            <a:srgbClr val="0B0B0B"/>
                          </a:solidFill>
                          <a:latin typeface="Calibri"/>
                        </a:rPr>
                        <a:t>4 concurrent requests (assumed)</a:t>
                      </a:r>
                    </a:p>
                  </a:txBody>
                  <a:tcPr marT="30000" marB="30000">
                    <a:solidFill>
                      <a:srgbClr val="FFFFFF"/>
                    </a:solidFill>
                  </a:tcPr>
                </a:tc>
              </a:tr>
              <a:tr h="457200">
                <a:tc>
                  <a:txBody>
                    <a:bodyPr/>
                    <a:lstStyle/>
                    <a:p>
                      <a:r>
                        <a:rPr sz="1500" b="0">
                          <a:solidFill>
                            <a:srgbClr val="0B0B0B"/>
                          </a:solidFill>
                          <a:latin typeface="Calibri"/>
                        </a:rPr>
                        <a:t>Prices retrieved</a:t>
                      </a:r>
                    </a:p>
                  </a:txBody>
                  <a:tcPr marT="30000" marB="30000">
                    <a:solidFill>
                      <a:srgbClr val="FFFFFF"/>
                    </a:solidFill>
                  </a:tcPr>
                </a:tc>
                <a:tc>
                  <a:txBody>
                    <a:bodyPr/>
                    <a:lstStyle/>
                    <a:p>
                      <a:r>
                        <a:rPr sz="1500" b="0">
                          <a:solidFill>
                            <a:srgbClr val="0B0B0B"/>
                          </a:solidFill>
                          <a:latin typeface="Calibri"/>
                        </a:rPr>
                        <a:t>2026-10-24</a:t>
                      </a:r>
                    </a:p>
                  </a:txBody>
                  <a:tcPr marT="30000" marB="30000">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155680" cy="822960"/>
          </a:xfrm>
          <a:prstGeom prst="rect">
            <a:avLst/>
          </a:prstGeom>
          <a:noFill/>
        </p:spPr>
        <p:txBody>
          <a:bodyPr wrap="square">
            <a:spAutoFit/>
          </a:bodyPr>
          <a:lstStyle/>
          <a:p>
            <a:r>
              <a:rPr sz="3000" b="1">
                <a:solidFill>
                  <a:srgbClr val="0B0B0B"/>
                </a:solidFill>
                <a:latin typeface="Calibri"/>
              </a:rPr>
              <a:t>Backup: sensitivity</a:t>
            </a:r>
          </a:p>
          <a:p>
            <a:r>
              <a:rPr sz="1500">
                <a:solidFill>
                  <a:srgbClr val="52514E"/>
                </a:solidFill>
                <a:latin typeface="Calibri"/>
              </a:rPr>
              <a:t>Backup</a:t>
            </a:r>
          </a:p>
        </p:txBody>
      </p:sp>
      <p:pic>
        <p:nvPicPr>
          <p:cNvPr id="4" name="Picture 3" descr="sensitivity.png"/>
          <p:cNvPicPr>
            <a:picLocks noChangeAspect="1"/>
          </p:cNvPicPr>
          <p:nvPr/>
        </p:nvPicPr>
        <p:blipFill>
          <a:blip r:embed="rId3"/>
          <a:stretch>
            <a:fillRect/>
          </a:stretch>
        </p:blipFill>
        <p:spPr>
          <a:xfrm>
            <a:off x="457200" y="1463040"/>
            <a:ext cx="7680960" cy="3714926"/>
          </a:xfrm>
          <a:prstGeom prst="rect">
            <a:avLst/>
          </a:prstGeom>
        </p:spPr>
      </p:pic>
      <p:sp>
        <p:nvSpPr>
          <p:cNvPr id="5" name="TextBox 4"/>
          <p:cNvSpPr txBox="1"/>
          <p:nvPr/>
        </p:nvSpPr>
        <p:spPr>
          <a:xfrm>
            <a:off x="8412480" y="1828800"/>
            <a:ext cx="3566160" cy="4754880"/>
          </a:xfrm>
          <a:prstGeom prst="rect">
            <a:avLst/>
          </a:prstGeom>
          <a:noFill/>
        </p:spPr>
        <p:txBody>
          <a:bodyPr wrap="square">
            <a:spAutoFit/>
          </a:bodyPr>
          <a:lstStyle/>
          <a:p>
            <a:pPr>
              <a:spcAft>
                <a:spcPts val="800"/>
              </a:spcAft>
            </a:pPr>
            <a:r>
              <a:rPr sz="1500">
                <a:solidFill>
                  <a:srgbClr val="0B0B0B"/>
                </a:solidFill>
                <a:latin typeface="Calibri"/>
              </a:rPr>
              <a:t>• Capacity x0.5: saves 8% vs all-Lambda</a:t>
            </a:r>
          </a:p>
          <a:p>
            <a:pPr>
              <a:spcAft>
                <a:spcPts val="800"/>
              </a:spcAft>
            </a:pPr>
            <a:r>
              <a:rPr sz="1500">
                <a:solidFill>
                  <a:srgbClr val="0B0B0B"/>
                </a:solidFill>
                <a:latin typeface="Calibri"/>
              </a:rPr>
              <a:t>• Lambda price x0.5: saves 8%</a:t>
            </a:r>
          </a:p>
          <a:p>
            <a:pPr>
              <a:spcAft>
                <a:spcPts val="800"/>
              </a:spcAft>
            </a:pPr>
            <a:r>
              <a:rPr sz="1500">
                <a:solidFill>
                  <a:srgbClr val="0B0B0B"/>
                </a:solidFill>
                <a:latin typeface="Calibri"/>
              </a:rPr>
              <a:t>• Assumed capacity 16: $17.0k vs $53.8k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